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B6BE"/>
    <a:srgbClr val="007B82"/>
    <a:srgbClr val="C77CFF"/>
    <a:srgbClr val="F28780"/>
    <a:srgbClr val="FEF1F0"/>
    <a:srgbClr val="D4D2E0"/>
    <a:srgbClr val="EAE5F3"/>
    <a:srgbClr val="D3E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3" d="100"/>
          <a:sy n="133" d="100"/>
        </p:scale>
        <p:origin x="1644" y="126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1724025" y="836612"/>
            <a:ext cx="41148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rc5"/>
          <p:cNvSpPr/>
          <p:nvPr/>
        </p:nvSpPr>
        <p:spPr>
          <a:xfrm>
            <a:off x="2152963" y="906201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pl6"/>
          <p:cNvSpPr/>
          <p:nvPr/>
        </p:nvSpPr>
        <p:spPr>
          <a:xfrm>
            <a:off x="2152963" y="144712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2152963" y="125216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/>
          <p:cNvSpPr/>
          <p:nvPr/>
        </p:nvSpPr>
        <p:spPr>
          <a:xfrm>
            <a:off x="2152963" y="1057208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2460014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2932399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3404785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2152963" y="154460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2152963" y="1349644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2152963" y="1154687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2152963" y="959729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2223821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2696207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3168592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3640978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2483633" y="1060533"/>
            <a:ext cx="1157344" cy="469121"/>
          </a:xfrm>
          <a:custGeom>
            <a:avLst/>
            <a:gdLst/>
            <a:ahLst/>
            <a:cxnLst/>
            <a:rect l="0" t="0" r="0" b="0"/>
            <a:pathLst>
              <a:path w="1157344" h="469121">
                <a:moveTo>
                  <a:pt x="0" y="469121"/>
                </a:moveTo>
                <a:lnTo>
                  <a:pt x="23619" y="466181"/>
                </a:lnTo>
                <a:lnTo>
                  <a:pt x="47238" y="462628"/>
                </a:lnTo>
                <a:lnTo>
                  <a:pt x="70857" y="459065"/>
                </a:lnTo>
                <a:lnTo>
                  <a:pt x="94477" y="455219"/>
                </a:lnTo>
                <a:lnTo>
                  <a:pt x="118096" y="451194"/>
                </a:lnTo>
                <a:lnTo>
                  <a:pt x="141715" y="446818"/>
                </a:lnTo>
                <a:lnTo>
                  <a:pt x="165334" y="442157"/>
                </a:lnTo>
                <a:lnTo>
                  <a:pt x="188954" y="436963"/>
                </a:lnTo>
                <a:lnTo>
                  <a:pt x="212573" y="431381"/>
                </a:lnTo>
                <a:lnTo>
                  <a:pt x="236192" y="426208"/>
                </a:lnTo>
                <a:lnTo>
                  <a:pt x="259812" y="420393"/>
                </a:lnTo>
                <a:lnTo>
                  <a:pt x="283431" y="414205"/>
                </a:lnTo>
                <a:lnTo>
                  <a:pt x="307050" y="407697"/>
                </a:lnTo>
                <a:lnTo>
                  <a:pt x="330669" y="400762"/>
                </a:lnTo>
                <a:lnTo>
                  <a:pt x="354289" y="393388"/>
                </a:lnTo>
                <a:lnTo>
                  <a:pt x="377908" y="385707"/>
                </a:lnTo>
                <a:lnTo>
                  <a:pt x="401527" y="377842"/>
                </a:lnTo>
                <a:lnTo>
                  <a:pt x="425146" y="369703"/>
                </a:lnTo>
                <a:lnTo>
                  <a:pt x="448766" y="361138"/>
                </a:lnTo>
                <a:lnTo>
                  <a:pt x="472385" y="352307"/>
                </a:lnTo>
                <a:lnTo>
                  <a:pt x="496004" y="343361"/>
                </a:lnTo>
                <a:lnTo>
                  <a:pt x="519624" y="333862"/>
                </a:lnTo>
                <a:lnTo>
                  <a:pt x="543243" y="324288"/>
                </a:lnTo>
                <a:lnTo>
                  <a:pt x="566862" y="314750"/>
                </a:lnTo>
                <a:lnTo>
                  <a:pt x="590481" y="304972"/>
                </a:lnTo>
                <a:lnTo>
                  <a:pt x="614101" y="294819"/>
                </a:lnTo>
                <a:lnTo>
                  <a:pt x="637720" y="284133"/>
                </a:lnTo>
                <a:lnTo>
                  <a:pt x="661339" y="273397"/>
                </a:lnTo>
                <a:lnTo>
                  <a:pt x="684958" y="262441"/>
                </a:lnTo>
                <a:lnTo>
                  <a:pt x="708578" y="251742"/>
                </a:lnTo>
                <a:lnTo>
                  <a:pt x="732197" y="240580"/>
                </a:lnTo>
                <a:lnTo>
                  <a:pt x="755816" y="229421"/>
                </a:lnTo>
                <a:lnTo>
                  <a:pt x="779436" y="218156"/>
                </a:lnTo>
                <a:lnTo>
                  <a:pt x="803055" y="206398"/>
                </a:lnTo>
                <a:lnTo>
                  <a:pt x="826674" y="194503"/>
                </a:lnTo>
                <a:lnTo>
                  <a:pt x="850293" y="183028"/>
                </a:lnTo>
                <a:lnTo>
                  <a:pt x="873913" y="170460"/>
                </a:lnTo>
                <a:lnTo>
                  <a:pt x="897532" y="157764"/>
                </a:lnTo>
                <a:lnTo>
                  <a:pt x="921151" y="145372"/>
                </a:lnTo>
                <a:lnTo>
                  <a:pt x="944771" y="132451"/>
                </a:lnTo>
                <a:lnTo>
                  <a:pt x="968390" y="118965"/>
                </a:lnTo>
                <a:lnTo>
                  <a:pt x="992009" y="105045"/>
                </a:lnTo>
                <a:lnTo>
                  <a:pt x="1015628" y="90112"/>
                </a:lnTo>
                <a:lnTo>
                  <a:pt x="1039248" y="75403"/>
                </a:lnTo>
                <a:lnTo>
                  <a:pt x="1062867" y="60148"/>
                </a:lnTo>
                <a:lnTo>
                  <a:pt x="1086486" y="44257"/>
                </a:lnTo>
                <a:lnTo>
                  <a:pt x="1110105" y="29651"/>
                </a:lnTo>
                <a:lnTo>
                  <a:pt x="1133725" y="14922"/>
                </a:lnTo>
                <a:lnTo>
                  <a:pt x="115734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l22"/>
          <p:cNvSpPr/>
          <p:nvPr/>
        </p:nvSpPr>
        <p:spPr>
          <a:xfrm>
            <a:off x="2483633" y="936199"/>
            <a:ext cx="1157344" cy="586947"/>
          </a:xfrm>
          <a:custGeom>
            <a:avLst/>
            <a:gdLst/>
            <a:ahLst/>
            <a:cxnLst/>
            <a:rect l="0" t="0" r="0" b="0"/>
            <a:pathLst>
              <a:path w="1157344" h="586947">
                <a:moveTo>
                  <a:pt x="0" y="586947"/>
                </a:moveTo>
                <a:lnTo>
                  <a:pt x="23619" y="583870"/>
                </a:lnTo>
                <a:lnTo>
                  <a:pt x="47238" y="578447"/>
                </a:lnTo>
                <a:lnTo>
                  <a:pt x="70857" y="573880"/>
                </a:lnTo>
                <a:lnTo>
                  <a:pt x="94477" y="570972"/>
                </a:lnTo>
                <a:lnTo>
                  <a:pt x="118096" y="568869"/>
                </a:lnTo>
                <a:lnTo>
                  <a:pt x="141715" y="561942"/>
                </a:lnTo>
                <a:lnTo>
                  <a:pt x="165334" y="559743"/>
                </a:lnTo>
                <a:lnTo>
                  <a:pt x="188954" y="552000"/>
                </a:lnTo>
                <a:lnTo>
                  <a:pt x="212573" y="553547"/>
                </a:lnTo>
                <a:lnTo>
                  <a:pt x="236192" y="544268"/>
                </a:lnTo>
                <a:lnTo>
                  <a:pt x="259812" y="534988"/>
                </a:lnTo>
                <a:lnTo>
                  <a:pt x="283431" y="528675"/>
                </a:lnTo>
                <a:lnTo>
                  <a:pt x="307050" y="520768"/>
                </a:lnTo>
                <a:lnTo>
                  <a:pt x="330669" y="508962"/>
                </a:lnTo>
                <a:lnTo>
                  <a:pt x="354289" y="501640"/>
                </a:lnTo>
                <a:lnTo>
                  <a:pt x="377908" y="495074"/>
                </a:lnTo>
                <a:lnTo>
                  <a:pt x="401527" y="484906"/>
                </a:lnTo>
                <a:lnTo>
                  <a:pt x="425146" y="475333"/>
                </a:lnTo>
                <a:lnTo>
                  <a:pt x="448766" y="464592"/>
                </a:lnTo>
                <a:lnTo>
                  <a:pt x="472385" y="455120"/>
                </a:lnTo>
                <a:lnTo>
                  <a:pt x="496004" y="440496"/>
                </a:lnTo>
                <a:lnTo>
                  <a:pt x="519624" y="432158"/>
                </a:lnTo>
                <a:lnTo>
                  <a:pt x="543243" y="416685"/>
                </a:lnTo>
                <a:lnTo>
                  <a:pt x="566862" y="406836"/>
                </a:lnTo>
                <a:lnTo>
                  <a:pt x="590481" y="395740"/>
                </a:lnTo>
                <a:lnTo>
                  <a:pt x="614101" y="371685"/>
                </a:lnTo>
                <a:lnTo>
                  <a:pt x="637720" y="352642"/>
                </a:lnTo>
                <a:lnTo>
                  <a:pt x="661339" y="346251"/>
                </a:lnTo>
                <a:lnTo>
                  <a:pt x="684958" y="339284"/>
                </a:lnTo>
                <a:lnTo>
                  <a:pt x="708578" y="328353"/>
                </a:lnTo>
                <a:lnTo>
                  <a:pt x="732197" y="317643"/>
                </a:lnTo>
                <a:lnTo>
                  <a:pt x="755816" y="295925"/>
                </a:lnTo>
                <a:lnTo>
                  <a:pt x="779436" y="290616"/>
                </a:lnTo>
                <a:lnTo>
                  <a:pt x="803055" y="270893"/>
                </a:lnTo>
                <a:lnTo>
                  <a:pt x="826674" y="257229"/>
                </a:lnTo>
                <a:lnTo>
                  <a:pt x="850293" y="236671"/>
                </a:lnTo>
                <a:lnTo>
                  <a:pt x="873913" y="222442"/>
                </a:lnTo>
                <a:lnTo>
                  <a:pt x="897532" y="214870"/>
                </a:lnTo>
                <a:lnTo>
                  <a:pt x="921151" y="200358"/>
                </a:lnTo>
                <a:lnTo>
                  <a:pt x="944771" y="183615"/>
                </a:lnTo>
                <a:lnTo>
                  <a:pt x="968390" y="165638"/>
                </a:lnTo>
                <a:lnTo>
                  <a:pt x="992009" y="140970"/>
                </a:lnTo>
                <a:lnTo>
                  <a:pt x="1015628" y="129142"/>
                </a:lnTo>
                <a:lnTo>
                  <a:pt x="1039248" y="109308"/>
                </a:lnTo>
                <a:lnTo>
                  <a:pt x="1062867" y="83905"/>
                </a:lnTo>
                <a:lnTo>
                  <a:pt x="1086486" y="67094"/>
                </a:lnTo>
                <a:lnTo>
                  <a:pt x="1110105" y="40357"/>
                </a:lnTo>
                <a:lnTo>
                  <a:pt x="1133725" y="16868"/>
                </a:lnTo>
                <a:lnTo>
                  <a:pt x="1157344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" name="pl23"/>
          <p:cNvSpPr/>
          <p:nvPr/>
        </p:nvSpPr>
        <p:spPr>
          <a:xfrm>
            <a:off x="2483633" y="1184867"/>
            <a:ext cx="1157344" cy="351296"/>
          </a:xfrm>
          <a:custGeom>
            <a:avLst/>
            <a:gdLst/>
            <a:ahLst/>
            <a:cxnLst/>
            <a:rect l="0" t="0" r="0" b="0"/>
            <a:pathLst>
              <a:path w="1157344" h="351296">
                <a:moveTo>
                  <a:pt x="1157344" y="0"/>
                </a:moveTo>
                <a:lnTo>
                  <a:pt x="1133725" y="12976"/>
                </a:lnTo>
                <a:lnTo>
                  <a:pt x="1110105" y="18944"/>
                </a:lnTo>
                <a:lnTo>
                  <a:pt x="1086486" y="21420"/>
                </a:lnTo>
                <a:lnTo>
                  <a:pt x="1062867" y="36390"/>
                </a:lnTo>
                <a:lnTo>
                  <a:pt x="1039248" y="41497"/>
                </a:lnTo>
                <a:lnTo>
                  <a:pt x="1015628" y="51082"/>
                </a:lnTo>
                <a:lnTo>
                  <a:pt x="992009" y="69120"/>
                </a:lnTo>
                <a:lnTo>
                  <a:pt x="968390" y="72293"/>
                </a:lnTo>
                <a:lnTo>
                  <a:pt x="944771" y="81288"/>
                </a:lnTo>
                <a:lnTo>
                  <a:pt x="921151" y="90386"/>
                </a:lnTo>
                <a:lnTo>
                  <a:pt x="897532" y="100657"/>
                </a:lnTo>
                <a:lnTo>
                  <a:pt x="873913" y="118479"/>
                </a:lnTo>
                <a:lnTo>
                  <a:pt x="850293" y="129385"/>
                </a:lnTo>
                <a:lnTo>
                  <a:pt x="826674" y="131777"/>
                </a:lnTo>
                <a:lnTo>
                  <a:pt x="803055" y="141902"/>
                </a:lnTo>
                <a:lnTo>
                  <a:pt x="779436" y="145696"/>
                </a:lnTo>
                <a:lnTo>
                  <a:pt x="755816" y="162917"/>
                </a:lnTo>
                <a:lnTo>
                  <a:pt x="732197" y="163517"/>
                </a:lnTo>
                <a:lnTo>
                  <a:pt x="708578" y="175131"/>
                </a:lnTo>
                <a:lnTo>
                  <a:pt x="684958" y="185597"/>
                </a:lnTo>
                <a:lnTo>
                  <a:pt x="661339" y="200543"/>
                </a:lnTo>
                <a:lnTo>
                  <a:pt x="637720" y="215624"/>
                </a:lnTo>
                <a:lnTo>
                  <a:pt x="614101" y="217953"/>
                </a:lnTo>
                <a:lnTo>
                  <a:pt x="590481" y="214204"/>
                </a:lnTo>
                <a:lnTo>
                  <a:pt x="566862" y="222665"/>
                </a:lnTo>
                <a:lnTo>
                  <a:pt x="543243" y="231890"/>
                </a:lnTo>
                <a:lnTo>
                  <a:pt x="519624" y="235567"/>
                </a:lnTo>
                <a:lnTo>
                  <a:pt x="496004" y="246225"/>
                </a:lnTo>
                <a:lnTo>
                  <a:pt x="472385" y="249494"/>
                </a:lnTo>
                <a:lnTo>
                  <a:pt x="448766" y="257684"/>
                </a:lnTo>
                <a:lnTo>
                  <a:pt x="425146" y="264072"/>
                </a:lnTo>
                <a:lnTo>
                  <a:pt x="401527" y="270777"/>
                </a:lnTo>
                <a:lnTo>
                  <a:pt x="377908" y="276341"/>
                </a:lnTo>
                <a:lnTo>
                  <a:pt x="354289" y="285136"/>
                </a:lnTo>
                <a:lnTo>
                  <a:pt x="330669" y="292563"/>
                </a:lnTo>
                <a:lnTo>
                  <a:pt x="307050" y="294626"/>
                </a:lnTo>
                <a:lnTo>
                  <a:pt x="283431" y="299735"/>
                </a:lnTo>
                <a:lnTo>
                  <a:pt x="259812" y="305798"/>
                </a:lnTo>
                <a:lnTo>
                  <a:pt x="236192" y="308148"/>
                </a:lnTo>
                <a:lnTo>
                  <a:pt x="212573" y="309215"/>
                </a:lnTo>
                <a:lnTo>
                  <a:pt x="188954" y="321925"/>
                </a:lnTo>
                <a:lnTo>
                  <a:pt x="165334" y="324570"/>
                </a:lnTo>
                <a:lnTo>
                  <a:pt x="141715" y="331694"/>
                </a:lnTo>
                <a:lnTo>
                  <a:pt x="118096" y="333518"/>
                </a:lnTo>
                <a:lnTo>
                  <a:pt x="94477" y="339466"/>
                </a:lnTo>
                <a:lnTo>
                  <a:pt x="70857" y="344251"/>
                </a:lnTo>
                <a:lnTo>
                  <a:pt x="47238" y="346808"/>
                </a:lnTo>
                <a:lnTo>
                  <a:pt x="23619" y="348491"/>
                </a:lnTo>
                <a:lnTo>
                  <a:pt x="0" y="35129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" name="rc24"/>
          <p:cNvSpPr/>
          <p:nvPr/>
        </p:nvSpPr>
        <p:spPr>
          <a:xfrm>
            <a:off x="2152963" y="906201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tx25"/>
          <p:cNvSpPr/>
          <p:nvPr/>
        </p:nvSpPr>
        <p:spPr>
          <a:xfrm>
            <a:off x="2028178" y="1502909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6" name="tx26"/>
          <p:cNvSpPr/>
          <p:nvPr/>
        </p:nvSpPr>
        <p:spPr>
          <a:xfrm>
            <a:off x="1966022" y="130795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7" name="tx27"/>
          <p:cNvSpPr/>
          <p:nvPr/>
        </p:nvSpPr>
        <p:spPr>
          <a:xfrm>
            <a:off x="1966022" y="1112995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28" name="tx28"/>
          <p:cNvSpPr/>
          <p:nvPr/>
        </p:nvSpPr>
        <p:spPr>
          <a:xfrm>
            <a:off x="1966022" y="917983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29" name="pl29"/>
          <p:cNvSpPr/>
          <p:nvPr/>
        </p:nvSpPr>
        <p:spPr>
          <a:xfrm>
            <a:off x="2118169" y="154460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l30"/>
          <p:cNvSpPr/>
          <p:nvPr/>
        </p:nvSpPr>
        <p:spPr>
          <a:xfrm>
            <a:off x="2118169" y="134964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l31"/>
          <p:cNvSpPr/>
          <p:nvPr/>
        </p:nvSpPr>
        <p:spPr>
          <a:xfrm>
            <a:off x="2118169" y="115468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l32"/>
          <p:cNvSpPr/>
          <p:nvPr/>
        </p:nvSpPr>
        <p:spPr>
          <a:xfrm>
            <a:off x="2118169" y="95972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l33"/>
          <p:cNvSpPr/>
          <p:nvPr/>
        </p:nvSpPr>
        <p:spPr>
          <a:xfrm>
            <a:off x="2223821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l34"/>
          <p:cNvSpPr/>
          <p:nvPr/>
        </p:nvSpPr>
        <p:spPr>
          <a:xfrm>
            <a:off x="2696207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5"/>
          <p:cNvSpPr/>
          <p:nvPr/>
        </p:nvSpPr>
        <p:spPr>
          <a:xfrm>
            <a:off x="3168592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/>
          <p:cNvSpPr/>
          <p:nvPr/>
        </p:nvSpPr>
        <p:spPr>
          <a:xfrm>
            <a:off x="3640978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tx37"/>
          <p:cNvSpPr/>
          <p:nvPr/>
        </p:nvSpPr>
        <p:spPr>
          <a:xfrm>
            <a:off x="2143057" y="1627101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-10</a:t>
            </a:r>
          </a:p>
        </p:txBody>
      </p:sp>
      <p:sp>
        <p:nvSpPr>
          <p:cNvPr id="38" name="tx38"/>
          <p:cNvSpPr/>
          <p:nvPr/>
        </p:nvSpPr>
        <p:spPr>
          <a:xfrm>
            <a:off x="2665129" y="1627101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9" name="tx39"/>
          <p:cNvSpPr/>
          <p:nvPr/>
        </p:nvSpPr>
        <p:spPr>
          <a:xfrm>
            <a:off x="3106437" y="162710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40" name="tx40"/>
          <p:cNvSpPr/>
          <p:nvPr/>
        </p:nvSpPr>
        <p:spPr>
          <a:xfrm>
            <a:off x="3578822" y="162710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41" name="tx41"/>
          <p:cNvSpPr/>
          <p:nvPr/>
        </p:nvSpPr>
        <p:spPr>
          <a:xfrm>
            <a:off x="2204568" y="1774545"/>
            <a:ext cx="1455663" cy="1033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Estimated time from A+</a:t>
            </a:r>
          </a:p>
        </p:txBody>
      </p:sp>
      <p:sp>
        <p:nvSpPr>
          <p:cNvPr id="43" name="rc43"/>
          <p:cNvSpPr/>
          <p:nvPr/>
        </p:nvSpPr>
        <p:spPr>
          <a:xfrm>
            <a:off x="3781425" y="836612"/>
            <a:ext cx="2057400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rc44"/>
          <p:cNvSpPr/>
          <p:nvPr/>
        </p:nvSpPr>
        <p:spPr>
          <a:xfrm>
            <a:off x="4210363" y="906201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pl45"/>
          <p:cNvSpPr/>
          <p:nvPr/>
        </p:nvSpPr>
        <p:spPr>
          <a:xfrm>
            <a:off x="4210363" y="150087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l46"/>
          <p:cNvSpPr/>
          <p:nvPr/>
        </p:nvSpPr>
        <p:spPr>
          <a:xfrm>
            <a:off x="4210363" y="132441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4210363" y="114795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l48"/>
          <p:cNvSpPr/>
          <p:nvPr/>
        </p:nvSpPr>
        <p:spPr>
          <a:xfrm>
            <a:off x="4210363" y="97149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l49"/>
          <p:cNvSpPr/>
          <p:nvPr/>
        </p:nvSpPr>
        <p:spPr>
          <a:xfrm>
            <a:off x="4364583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l50"/>
          <p:cNvSpPr/>
          <p:nvPr/>
        </p:nvSpPr>
        <p:spPr>
          <a:xfrm>
            <a:off x="4781394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pl51"/>
          <p:cNvSpPr/>
          <p:nvPr/>
        </p:nvSpPr>
        <p:spPr>
          <a:xfrm>
            <a:off x="5198205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52"/>
          <p:cNvSpPr/>
          <p:nvPr/>
        </p:nvSpPr>
        <p:spPr>
          <a:xfrm>
            <a:off x="5615015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l53"/>
          <p:cNvSpPr/>
          <p:nvPr/>
        </p:nvSpPr>
        <p:spPr>
          <a:xfrm>
            <a:off x="4210363" y="141264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l54"/>
          <p:cNvSpPr/>
          <p:nvPr/>
        </p:nvSpPr>
        <p:spPr>
          <a:xfrm>
            <a:off x="4210363" y="123618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55"/>
          <p:cNvSpPr/>
          <p:nvPr/>
        </p:nvSpPr>
        <p:spPr>
          <a:xfrm>
            <a:off x="4210363" y="105972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/>
          <p:cNvSpPr/>
          <p:nvPr/>
        </p:nvSpPr>
        <p:spPr>
          <a:xfrm>
            <a:off x="4572989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/>
          <p:cNvSpPr/>
          <p:nvPr/>
        </p:nvSpPr>
        <p:spPr>
          <a:xfrm>
            <a:off x="4989799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58"/>
          <p:cNvSpPr/>
          <p:nvPr/>
        </p:nvSpPr>
        <p:spPr>
          <a:xfrm>
            <a:off x="5406610" y="906201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/>
          <p:cNvSpPr/>
          <p:nvPr/>
        </p:nvSpPr>
        <p:spPr>
          <a:xfrm>
            <a:off x="4210363" y="906201"/>
            <a:ext cx="1558872" cy="659961"/>
          </a:xfrm>
          <a:custGeom>
            <a:avLst/>
            <a:gdLst/>
            <a:ahLst/>
            <a:cxnLst/>
            <a:rect l="0" t="0" r="0" b="0"/>
            <a:pathLst>
              <a:path w="1558872" h="659961">
                <a:moveTo>
                  <a:pt x="0" y="659961"/>
                </a:moveTo>
                <a:lnTo>
                  <a:pt x="155887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t63"/>
          <p:cNvSpPr/>
          <p:nvPr/>
        </p:nvSpPr>
        <p:spPr>
          <a:xfrm>
            <a:off x="4918665" y="122775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t64"/>
          <p:cNvSpPr/>
          <p:nvPr/>
        </p:nvSpPr>
        <p:spPr>
          <a:xfrm>
            <a:off x="4524093" y="1445916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t65"/>
          <p:cNvSpPr/>
          <p:nvPr/>
        </p:nvSpPr>
        <p:spPr>
          <a:xfrm>
            <a:off x="4944925" y="1234966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t66"/>
          <p:cNvSpPr/>
          <p:nvPr/>
        </p:nvSpPr>
        <p:spPr>
          <a:xfrm>
            <a:off x="4385485" y="1470164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t67"/>
          <p:cNvSpPr/>
          <p:nvPr/>
        </p:nvSpPr>
        <p:spPr>
          <a:xfrm>
            <a:off x="4357202" y="1488855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t68"/>
          <p:cNvSpPr/>
          <p:nvPr/>
        </p:nvSpPr>
        <p:spPr>
          <a:xfrm>
            <a:off x="5164981" y="113373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t69"/>
          <p:cNvSpPr/>
          <p:nvPr/>
        </p:nvSpPr>
        <p:spPr>
          <a:xfrm>
            <a:off x="5615220" y="96200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t70"/>
          <p:cNvSpPr/>
          <p:nvPr/>
        </p:nvSpPr>
        <p:spPr>
          <a:xfrm>
            <a:off x="5605564" y="105350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t71"/>
          <p:cNvSpPr/>
          <p:nvPr/>
        </p:nvSpPr>
        <p:spPr>
          <a:xfrm>
            <a:off x="4257329" y="150035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2" name="pt72"/>
          <p:cNvSpPr/>
          <p:nvPr/>
        </p:nvSpPr>
        <p:spPr>
          <a:xfrm>
            <a:off x="4524978" y="140442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3" name="pt73"/>
          <p:cNvSpPr/>
          <p:nvPr/>
        </p:nvSpPr>
        <p:spPr>
          <a:xfrm>
            <a:off x="4924350" y="123180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t74"/>
          <p:cNvSpPr/>
          <p:nvPr/>
        </p:nvSpPr>
        <p:spPr>
          <a:xfrm>
            <a:off x="4678153" y="134693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" name="pt75"/>
          <p:cNvSpPr/>
          <p:nvPr/>
        </p:nvSpPr>
        <p:spPr>
          <a:xfrm>
            <a:off x="4567209" y="126985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6" name="pt76"/>
          <p:cNvSpPr/>
          <p:nvPr/>
        </p:nvSpPr>
        <p:spPr>
          <a:xfrm>
            <a:off x="4640300" y="1364125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7" name="pt77"/>
          <p:cNvSpPr/>
          <p:nvPr/>
        </p:nvSpPr>
        <p:spPr>
          <a:xfrm>
            <a:off x="5417611" y="1020870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8" name="pt78"/>
          <p:cNvSpPr/>
          <p:nvPr/>
        </p:nvSpPr>
        <p:spPr>
          <a:xfrm>
            <a:off x="5603810" y="94075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pt79"/>
          <p:cNvSpPr/>
          <p:nvPr/>
        </p:nvSpPr>
        <p:spPr>
          <a:xfrm>
            <a:off x="4535440" y="139388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0" name="pt80"/>
          <p:cNvSpPr/>
          <p:nvPr/>
        </p:nvSpPr>
        <p:spPr>
          <a:xfrm>
            <a:off x="4426382" y="143817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pt81"/>
          <p:cNvSpPr/>
          <p:nvPr/>
        </p:nvSpPr>
        <p:spPr>
          <a:xfrm>
            <a:off x="4786953" y="1304342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2" name="pt82"/>
          <p:cNvSpPr/>
          <p:nvPr/>
        </p:nvSpPr>
        <p:spPr>
          <a:xfrm>
            <a:off x="4947025" y="118606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pt83"/>
          <p:cNvSpPr/>
          <p:nvPr/>
        </p:nvSpPr>
        <p:spPr>
          <a:xfrm>
            <a:off x="5411641" y="94852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t84"/>
          <p:cNvSpPr/>
          <p:nvPr/>
        </p:nvSpPr>
        <p:spPr>
          <a:xfrm>
            <a:off x="4560029" y="133749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t85"/>
          <p:cNvSpPr/>
          <p:nvPr/>
        </p:nvSpPr>
        <p:spPr>
          <a:xfrm>
            <a:off x="4332177" y="1453029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t86"/>
          <p:cNvSpPr/>
          <p:nvPr/>
        </p:nvSpPr>
        <p:spPr>
          <a:xfrm>
            <a:off x="4614859" y="1285515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t87"/>
          <p:cNvSpPr/>
          <p:nvPr/>
        </p:nvSpPr>
        <p:spPr>
          <a:xfrm>
            <a:off x="5283095" y="108808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t88"/>
          <p:cNvSpPr/>
          <p:nvPr/>
        </p:nvSpPr>
        <p:spPr>
          <a:xfrm>
            <a:off x="5168381" y="1132979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t89"/>
          <p:cNvSpPr/>
          <p:nvPr/>
        </p:nvSpPr>
        <p:spPr>
          <a:xfrm>
            <a:off x="4583187" y="134511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" name="pt90"/>
          <p:cNvSpPr/>
          <p:nvPr/>
        </p:nvSpPr>
        <p:spPr>
          <a:xfrm>
            <a:off x="4454193" y="1423794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" name="pt91"/>
          <p:cNvSpPr/>
          <p:nvPr/>
        </p:nvSpPr>
        <p:spPr>
          <a:xfrm>
            <a:off x="4993130" y="1252567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t92"/>
          <p:cNvSpPr/>
          <p:nvPr/>
        </p:nvSpPr>
        <p:spPr>
          <a:xfrm>
            <a:off x="4447402" y="1407221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t93"/>
          <p:cNvSpPr/>
          <p:nvPr/>
        </p:nvSpPr>
        <p:spPr>
          <a:xfrm>
            <a:off x="5658196" y="967898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t94"/>
          <p:cNvSpPr/>
          <p:nvPr/>
        </p:nvSpPr>
        <p:spPr>
          <a:xfrm>
            <a:off x="4835053" y="1325633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t95"/>
          <p:cNvSpPr/>
          <p:nvPr/>
        </p:nvSpPr>
        <p:spPr>
          <a:xfrm>
            <a:off x="4608886" y="1324020"/>
            <a:ext cx="49651" cy="49651"/>
          </a:xfrm>
          <a:prstGeom prst="ellipse">
            <a:avLst/>
          </a:prstGeom>
          <a:solidFill>
            <a:srgbClr val="007B82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rc96"/>
          <p:cNvSpPr/>
          <p:nvPr/>
        </p:nvSpPr>
        <p:spPr>
          <a:xfrm>
            <a:off x="4210363" y="906201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tx97"/>
          <p:cNvSpPr/>
          <p:nvPr/>
        </p:nvSpPr>
        <p:spPr>
          <a:xfrm>
            <a:off x="4023422" y="1370896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98" name="tx98"/>
          <p:cNvSpPr/>
          <p:nvPr/>
        </p:nvSpPr>
        <p:spPr>
          <a:xfrm>
            <a:off x="4023422" y="1194490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99" name="tx99"/>
          <p:cNvSpPr/>
          <p:nvPr/>
        </p:nvSpPr>
        <p:spPr>
          <a:xfrm>
            <a:off x="4023422" y="1018030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00" name="pl100"/>
          <p:cNvSpPr/>
          <p:nvPr/>
        </p:nvSpPr>
        <p:spPr>
          <a:xfrm>
            <a:off x="4175569" y="141264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1" name="pl101"/>
          <p:cNvSpPr/>
          <p:nvPr/>
        </p:nvSpPr>
        <p:spPr>
          <a:xfrm>
            <a:off x="4175569" y="123618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l102"/>
          <p:cNvSpPr/>
          <p:nvPr/>
        </p:nvSpPr>
        <p:spPr>
          <a:xfrm>
            <a:off x="4175569" y="105972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" name="pl103"/>
          <p:cNvSpPr/>
          <p:nvPr/>
        </p:nvSpPr>
        <p:spPr>
          <a:xfrm>
            <a:off x="4572989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l104"/>
          <p:cNvSpPr/>
          <p:nvPr/>
        </p:nvSpPr>
        <p:spPr>
          <a:xfrm>
            <a:off x="4989799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pl105"/>
          <p:cNvSpPr/>
          <p:nvPr/>
        </p:nvSpPr>
        <p:spPr>
          <a:xfrm>
            <a:off x="5406610" y="1566162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tx106"/>
          <p:cNvSpPr/>
          <p:nvPr/>
        </p:nvSpPr>
        <p:spPr>
          <a:xfrm>
            <a:off x="4510833" y="1627046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07" name="tx107"/>
          <p:cNvSpPr/>
          <p:nvPr/>
        </p:nvSpPr>
        <p:spPr>
          <a:xfrm>
            <a:off x="4927644" y="162710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08" name="tx108"/>
          <p:cNvSpPr/>
          <p:nvPr/>
        </p:nvSpPr>
        <p:spPr>
          <a:xfrm>
            <a:off x="5344455" y="162710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09" name="tx109"/>
          <p:cNvSpPr/>
          <p:nvPr/>
        </p:nvSpPr>
        <p:spPr>
          <a:xfrm>
            <a:off x="4092902" y="1746714"/>
            <a:ext cx="1793794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Observed Age at Conversion</a:t>
            </a:r>
          </a:p>
        </p:txBody>
      </p:sp>
      <p:sp>
        <p:nvSpPr>
          <p:cNvPr id="110" name="tx110"/>
          <p:cNvSpPr/>
          <p:nvPr/>
        </p:nvSpPr>
        <p:spPr>
          <a:xfrm rot="16200000">
            <a:off x="2996306" y="1170629"/>
            <a:ext cx="1778310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Predicted Age </a:t>
            </a:r>
            <a:endParaRPr lang="en-US" sz="11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at Conversion</a:t>
            </a:r>
          </a:p>
        </p:txBody>
      </p:sp>
      <p:sp>
        <p:nvSpPr>
          <p:cNvPr id="111" name="rc111"/>
          <p:cNvSpPr/>
          <p:nvPr/>
        </p:nvSpPr>
        <p:spPr>
          <a:xfrm>
            <a:off x="1724025" y="2211773"/>
            <a:ext cx="2057399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rc112"/>
          <p:cNvSpPr/>
          <p:nvPr/>
        </p:nvSpPr>
        <p:spPr>
          <a:xfrm>
            <a:off x="2152963" y="22813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" name="pl113"/>
          <p:cNvSpPr/>
          <p:nvPr/>
        </p:nvSpPr>
        <p:spPr>
          <a:xfrm>
            <a:off x="2152963" y="2864358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l114"/>
          <p:cNvSpPr/>
          <p:nvPr/>
        </p:nvSpPr>
        <p:spPr>
          <a:xfrm>
            <a:off x="2152963" y="2696275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l115"/>
          <p:cNvSpPr/>
          <p:nvPr/>
        </p:nvSpPr>
        <p:spPr>
          <a:xfrm>
            <a:off x="2152963" y="252819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l116"/>
          <p:cNvSpPr/>
          <p:nvPr/>
        </p:nvSpPr>
        <p:spPr>
          <a:xfrm>
            <a:off x="2152963" y="2360109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l117"/>
          <p:cNvSpPr/>
          <p:nvPr/>
        </p:nvSpPr>
        <p:spPr>
          <a:xfrm>
            <a:off x="2460014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l118"/>
          <p:cNvSpPr/>
          <p:nvPr/>
        </p:nvSpPr>
        <p:spPr>
          <a:xfrm>
            <a:off x="2932399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l119"/>
          <p:cNvSpPr/>
          <p:nvPr/>
        </p:nvSpPr>
        <p:spPr>
          <a:xfrm>
            <a:off x="3404785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" name="pl120"/>
          <p:cNvSpPr/>
          <p:nvPr/>
        </p:nvSpPr>
        <p:spPr>
          <a:xfrm>
            <a:off x="2152963" y="2780316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" name="pl121"/>
          <p:cNvSpPr/>
          <p:nvPr/>
        </p:nvSpPr>
        <p:spPr>
          <a:xfrm>
            <a:off x="2152963" y="261223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" name="pl122"/>
          <p:cNvSpPr/>
          <p:nvPr/>
        </p:nvSpPr>
        <p:spPr>
          <a:xfrm>
            <a:off x="2152963" y="244415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" name="pl123"/>
          <p:cNvSpPr/>
          <p:nvPr/>
        </p:nvSpPr>
        <p:spPr>
          <a:xfrm>
            <a:off x="2223821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" name="pl124"/>
          <p:cNvSpPr/>
          <p:nvPr/>
        </p:nvSpPr>
        <p:spPr>
          <a:xfrm>
            <a:off x="2696207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5" name="pl125"/>
          <p:cNvSpPr/>
          <p:nvPr/>
        </p:nvSpPr>
        <p:spPr>
          <a:xfrm>
            <a:off x="3168592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l126"/>
          <p:cNvSpPr/>
          <p:nvPr/>
        </p:nvSpPr>
        <p:spPr>
          <a:xfrm>
            <a:off x="3640978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2412775" y="2311361"/>
            <a:ext cx="1228202" cy="235236"/>
          </a:xfrm>
          <a:custGeom>
            <a:avLst/>
            <a:gdLst/>
            <a:ahLst/>
            <a:cxnLst/>
            <a:rect l="0" t="0" r="0" b="0"/>
            <a:pathLst>
              <a:path w="1228202" h="235236">
                <a:moveTo>
                  <a:pt x="0" y="235236"/>
                </a:moveTo>
                <a:lnTo>
                  <a:pt x="23619" y="233148"/>
                </a:lnTo>
                <a:lnTo>
                  <a:pt x="47238" y="230537"/>
                </a:lnTo>
                <a:lnTo>
                  <a:pt x="70857" y="226201"/>
                </a:lnTo>
                <a:lnTo>
                  <a:pt x="94477" y="220879"/>
                </a:lnTo>
                <a:lnTo>
                  <a:pt x="118096" y="216439"/>
                </a:lnTo>
                <a:lnTo>
                  <a:pt x="141715" y="211910"/>
                </a:lnTo>
                <a:lnTo>
                  <a:pt x="165334" y="206220"/>
                </a:lnTo>
                <a:lnTo>
                  <a:pt x="188954" y="204028"/>
                </a:lnTo>
                <a:lnTo>
                  <a:pt x="212573" y="199620"/>
                </a:lnTo>
                <a:lnTo>
                  <a:pt x="236192" y="195235"/>
                </a:lnTo>
                <a:lnTo>
                  <a:pt x="259812" y="193838"/>
                </a:lnTo>
                <a:lnTo>
                  <a:pt x="283431" y="191287"/>
                </a:lnTo>
                <a:lnTo>
                  <a:pt x="307050" y="188294"/>
                </a:lnTo>
                <a:lnTo>
                  <a:pt x="330669" y="183256"/>
                </a:lnTo>
                <a:lnTo>
                  <a:pt x="354289" y="176868"/>
                </a:lnTo>
                <a:lnTo>
                  <a:pt x="377908" y="171135"/>
                </a:lnTo>
                <a:lnTo>
                  <a:pt x="401527" y="166675"/>
                </a:lnTo>
                <a:lnTo>
                  <a:pt x="425146" y="161759"/>
                </a:lnTo>
                <a:lnTo>
                  <a:pt x="448766" y="158035"/>
                </a:lnTo>
                <a:lnTo>
                  <a:pt x="472385" y="154707"/>
                </a:lnTo>
                <a:lnTo>
                  <a:pt x="496004" y="149179"/>
                </a:lnTo>
                <a:lnTo>
                  <a:pt x="519624" y="142250"/>
                </a:lnTo>
                <a:lnTo>
                  <a:pt x="543243" y="136794"/>
                </a:lnTo>
                <a:lnTo>
                  <a:pt x="566862" y="134146"/>
                </a:lnTo>
                <a:lnTo>
                  <a:pt x="590481" y="128928"/>
                </a:lnTo>
                <a:lnTo>
                  <a:pt x="614101" y="124500"/>
                </a:lnTo>
                <a:lnTo>
                  <a:pt x="637720" y="116302"/>
                </a:lnTo>
                <a:lnTo>
                  <a:pt x="661339" y="111269"/>
                </a:lnTo>
                <a:lnTo>
                  <a:pt x="684958" y="103073"/>
                </a:lnTo>
                <a:lnTo>
                  <a:pt x="708578" y="93886"/>
                </a:lnTo>
                <a:lnTo>
                  <a:pt x="732197" y="83867"/>
                </a:lnTo>
                <a:lnTo>
                  <a:pt x="755816" y="80739"/>
                </a:lnTo>
                <a:lnTo>
                  <a:pt x="779436" y="74838"/>
                </a:lnTo>
                <a:lnTo>
                  <a:pt x="803055" y="69722"/>
                </a:lnTo>
                <a:lnTo>
                  <a:pt x="826674" y="62530"/>
                </a:lnTo>
                <a:lnTo>
                  <a:pt x="850293" y="56970"/>
                </a:lnTo>
                <a:lnTo>
                  <a:pt x="873913" y="49397"/>
                </a:lnTo>
                <a:lnTo>
                  <a:pt x="897532" y="44955"/>
                </a:lnTo>
                <a:lnTo>
                  <a:pt x="921151" y="39754"/>
                </a:lnTo>
                <a:lnTo>
                  <a:pt x="944771" y="34308"/>
                </a:lnTo>
                <a:lnTo>
                  <a:pt x="968390" y="32537"/>
                </a:lnTo>
                <a:lnTo>
                  <a:pt x="992009" y="27553"/>
                </a:lnTo>
                <a:lnTo>
                  <a:pt x="1015628" y="24200"/>
                </a:lnTo>
                <a:lnTo>
                  <a:pt x="1039248" y="19095"/>
                </a:lnTo>
                <a:lnTo>
                  <a:pt x="1062867" y="15194"/>
                </a:lnTo>
                <a:lnTo>
                  <a:pt x="1086486" y="13156"/>
                </a:lnTo>
                <a:lnTo>
                  <a:pt x="1110105" y="11684"/>
                </a:lnTo>
                <a:lnTo>
                  <a:pt x="1133725" y="7876"/>
                </a:lnTo>
                <a:lnTo>
                  <a:pt x="1157344" y="4672"/>
                </a:lnTo>
                <a:lnTo>
                  <a:pt x="1180963" y="2078"/>
                </a:lnTo>
                <a:lnTo>
                  <a:pt x="1204583" y="1287"/>
                </a:lnTo>
                <a:lnTo>
                  <a:pt x="1228202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0" name="pl130"/>
          <p:cNvSpPr/>
          <p:nvPr/>
        </p:nvSpPr>
        <p:spPr>
          <a:xfrm>
            <a:off x="2412775" y="2800679"/>
            <a:ext cx="1228202" cy="110646"/>
          </a:xfrm>
          <a:custGeom>
            <a:avLst/>
            <a:gdLst/>
            <a:ahLst/>
            <a:cxnLst/>
            <a:rect l="0" t="0" r="0" b="0"/>
            <a:pathLst>
              <a:path w="1228202" h="110646">
                <a:moveTo>
                  <a:pt x="1228202" y="26571"/>
                </a:moveTo>
                <a:lnTo>
                  <a:pt x="1204583" y="24963"/>
                </a:lnTo>
                <a:lnTo>
                  <a:pt x="1180963" y="24347"/>
                </a:lnTo>
                <a:lnTo>
                  <a:pt x="1157344" y="22691"/>
                </a:lnTo>
                <a:lnTo>
                  <a:pt x="1133725" y="21801"/>
                </a:lnTo>
                <a:lnTo>
                  <a:pt x="1110105" y="19609"/>
                </a:lnTo>
                <a:lnTo>
                  <a:pt x="1086486" y="14961"/>
                </a:lnTo>
                <a:lnTo>
                  <a:pt x="1062867" y="13790"/>
                </a:lnTo>
                <a:lnTo>
                  <a:pt x="1039248" y="11270"/>
                </a:lnTo>
                <a:lnTo>
                  <a:pt x="1015628" y="8559"/>
                </a:lnTo>
                <a:lnTo>
                  <a:pt x="992009" y="6638"/>
                </a:lnTo>
                <a:lnTo>
                  <a:pt x="968390" y="1655"/>
                </a:lnTo>
                <a:lnTo>
                  <a:pt x="944771" y="2930"/>
                </a:lnTo>
                <a:lnTo>
                  <a:pt x="921151" y="2109"/>
                </a:lnTo>
                <a:lnTo>
                  <a:pt x="897532" y="3078"/>
                </a:lnTo>
                <a:lnTo>
                  <a:pt x="873913" y="3669"/>
                </a:lnTo>
                <a:lnTo>
                  <a:pt x="850293" y="5317"/>
                </a:lnTo>
                <a:lnTo>
                  <a:pt x="826674" y="2368"/>
                </a:lnTo>
                <a:lnTo>
                  <a:pt x="803055" y="0"/>
                </a:lnTo>
                <a:lnTo>
                  <a:pt x="779436" y="3512"/>
                </a:lnTo>
                <a:lnTo>
                  <a:pt x="755816" y="1220"/>
                </a:lnTo>
                <a:lnTo>
                  <a:pt x="732197" y="1626"/>
                </a:lnTo>
                <a:lnTo>
                  <a:pt x="708578" y="4036"/>
                </a:lnTo>
                <a:lnTo>
                  <a:pt x="684958" y="7738"/>
                </a:lnTo>
                <a:lnTo>
                  <a:pt x="661339" y="8861"/>
                </a:lnTo>
                <a:lnTo>
                  <a:pt x="637720" y="13553"/>
                </a:lnTo>
                <a:lnTo>
                  <a:pt x="614101" y="16278"/>
                </a:lnTo>
                <a:lnTo>
                  <a:pt x="590481" y="21684"/>
                </a:lnTo>
                <a:lnTo>
                  <a:pt x="566862" y="24300"/>
                </a:lnTo>
                <a:lnTo>
                  <a:pt x="543243" y="30046"/>
                </a:lnTo>
                <a:lnTo>
                  <a:pt x="519624" y="35846"/>
                </a:lnTo>
                <a:lnTo>
                  <a:pt x="496004" y="39307"/>
                </a:lnTo>
                <a:lnTo>
                  <a:pt x="472385" y="41133"/>
                </a:lnTo>
                <a:lnTo>
                  <a:pt x="448766" y="46041"/>
                </a:lnTo>
                <a:lnTo>
                  <a:pt x="425146" y="50689"/>
                </a:lnTo>
                <a:lnTo>
                  <a:pt x="401527" y="57266"/>
                </a:lnTo>
                <a:lnTo>
                  <a:pt x="377908" y="62352"/>
                </a:lnTo>
                <a:lnTo>
                  <a:pt x="354289" y="63533"/>
                </a:lnTo>
                <a:lnTo>
                  <a:pt x="330669" y="67272"/>
                </a:lnTo>
                <a:lnTo>
                  <a:pt x="307050" y="71179"/>
                </a:lnTo>
                <a:lnTo>
                  <a:pt x="283431" y="74334"/>
                </a:lnTo>
                <a:lnTo>
                  <a:pt x="259812" y="78367"/>
                </a:lnTo>
                <a:lnTo>
                  <a:pt x="236192" y="81979"/>
                </a:lnTo>
                <a:lnTo>
                  <a:pt x="212573" y="85333"/>
                </a:lnTo>
                <a:lnTo>
                  <a:pt x="188954" y="89138"/>
                </a:lnTo>
                <a:lnTo>
                  <a:pt x="165334" y="94157"/>
                </a:lnTo>
                <a:lnTo>
                  <a:pt x="141715" y="96392"/>
                </a:lnTo>
                <a:lnTo>
                  <a:pt x="118096" y="98537"/>
                </a:lnTo>
                <a:lnTo>
                  <a:pt x="94477" y="102814"/>
                </a:lnTo>
                <a:lnTo>
                  <a:pt x="70857" y="105443"/>
                </a:lnTo>
                <a:lnTo>
                  <a:pt x="47238" y="106470"/>
                </a:lnTo>
                <a:lnTo>
                  <a:pt x="23619" y="108866"/>
                </a:lnTo>
                <a:lnTo>
                  <a:pt x="0" y="11064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1" name="rc131"/>
          <p:cNvSpPr/>
          <p:nvPr/>
        </p:nvSpPr>
        <p:spPr>
          <a:xfrm>
            <a:off x="2152963" y="22813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tx132"/>
          <p:cNvSpPr/>
          <p:nvPr/>
        </p:nvSpPr>
        <p:spPr>
          <a:xfrm>
            <a:off x="2028178" y="2738624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33" name="tx133"/>
          <p:cNvSpPr/>
          <p:nvPr/>
        </p:nvSpPr>
        <p:spPr>
          <a:xfrm>
            <a:off x="1966022" y="257054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34" name="tx134"/>
          <p:cNvSpPr/>
          <p:nvPr/>
        </p:nvSpPr>
        <p:spPr>
          <a:xfrm>
            <a:off x="1966022" y="2402459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35" name="pl135"/>
          <p:cNvSpPr/>
          <p:nvPr/>
        </p:nvSpPr>
        <p:spPr>
          <a:xfrm>
            <a:off x="2118169" y="278031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6" name="pl136"/>
          <p:cNvSpPr/>
          <p:nvPr/>
        </p:nvSpPr>
        <p:spPr>
          <a:xfrm>
            <a:off x="2118169" y="261223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7" name="pl137"/>
          <p:cNvSpPr/>
          <p:nvPr/>
        </p:nvSpPr>
        <p:spPr>
          <a:xfrm>
            <a:off x="2118169" y="244415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l138"/>
          <p:cNvSpPr/>
          <p:nvPr/>
        </p:nvSpPr>
        <p:spPr>
          <a:xfrm>
            <a:off x="2223821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l139"/>
          <p:cNvSpPr/>
          <p:nvPr/>
        </p:nvSpPr>
        <p:spPr>
          <a:xfrm>
            <a:off x="2696207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3168592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3640978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tx142"/>
          <p:cNvSpPr/>
          <p:nvPr/>
        </p:nvSpPr>
        <p:spPr>
          <a:xfrm>
            <a:off x="2143057" y="3002262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-10</a:t>
            </a:r>
          </a:p>
        </p:txBody>
      </p:sp>
      <p:sp>
        <p:nvSpPr>
          <p:cNvPr id="143" name="tx143"/>
          <p:cNvSpPr/>
          <p:nvPr/>
        </p:nvSpPr>
        <p:spPr>
          <a:xfrm>
            <a:off x="2665129" y="3002262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4" name="tx144"/>
          <p:cNvSpPr/>
          <p:nvPr/>
        </p:nvSpPr>
        <p:spPr>
          <a:xfrm>
            <a:off x="3106437" y="30022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45" name="tx145"/>
          <p:cNvSpPr/>
          <p:nvPr/>
        </p:nvSpPr>
        <p:spPr>
          <a:xfrm>
            <a:off x="3578822" y="30022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46" name="tx146"/>
          <p:cNvSpPr/>
          <p:nvPr/>
        </p:nvSpPr>
        <p:spPr>
          <a:xfrm>
            <a:off x="2204568" y="3149706"/>
            <a:ext cx="1455663" cy="1033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Estimated time from A+</a:t>
            </a:r>
          </a:p>
        </p:txBody>
      </p:sp>
      <p:sp>
        <p:nvSpPr>
          <p:cNvPr id="148" name="rc148"/>
          <p:cNvSpPr/>
          <p:nvPr/>
        </p:nvSpPr>
        <p:spPr>
          <a:xfrm>
            <a:off x="3781425" y="2211773"/>
            <a:ext cx="2057400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9" name="rc149"/>
          <p:cNvSpPr/>
          <p:nvPr/>
        </p:nvSpPr>
        <p:spPr>
          <a:xfrm>
            <a:off x="4210363" y="22813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" name="pl150"/>
          <p:cNvSpPr/>
          <p:nvPr/>
        </p:nvSpPr>
        <p:spPr>
          <a:xfrm>
            <a:off x="4210363" y="287603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1" name="pl151"/>
          <p:cNvSpPr/>
          <p:nvPr/>
        </p:nvSpPr>
        <p:spPr>
          <a:xfrm>
            <a:off x="4210363" y="269957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2" name="pl152"/>
          <p:cNvSpPr/>
          <p:nvPr/>
        </p:nvSpPr>
        <p:spPr>
          <a:xfrm>
            <a:off x="4210363" y="252311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4210363" y="234665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l154"/>
          <p:cNvSpPr/>
          <p:nvPr/>
        </p:nvSpPr>
        <p:spPr>
          <a:xfrm>
            <a:off x="4364583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4781394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l156"/>
          <p:cNvSpPr/>
          <p:nvPr/>
        </p:nvSpPr>
        <p:spPr>
          <a:xfrm>
            <a:off x="5198205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5615015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l158"/>
          <p:cNvSpPr/>
          <p:nvPr/>
        </p:nvSpPr>
        <p:spPr>
          <a:xfrm>
            <a:off x="4210363" y="278780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" name="pl159"/>
          <p:cNvSpPr/>
          <p:nvPr/>
        </p:nvSpPr>
        <p:spPr>
          <a:xfrm>
            <a:off x="4210363" y="261134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" name="pl160"/>
          <p:cNvSpPr/>
          <p:nvPr/>
        </p:nvSpPr>
        <p:spPr>
          <a:xfrm>
            <a:off x="4210363" y="243488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" name="pl161"/>
          <p:cNvSpPr/>
          <p:nvPr/>
        </p:nvSpPr>
        <p:spPr>
          <a:xfrm>
            <a:off x="4572989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" name="pl162"/>
          <p:cNvSpPr/>
          <p:nvPr/>
        </p:nvSpPr>
        <p:spPr>
          <a:xfrm>
            <a:off x="4989799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" name="pl163"/>
          <p:cNvSpPr/>
          <p:nvPr/>
        </p:nvSpPr>
        <p:spPr>
          <a:xfrm>
            <a:off x="5406610" y="22813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4" name="pl164"/>
          <p:cNvSpPr/>
          <p:nvPr/>
        </p:nvSpPr>
        <p:spPr>
          <a:xfrm>
            <a:off x="4210363" y="2281362"/>
            <a:ext cx="1558872" cy="659961"/>
          </a:xfrm>
          <a:custGeom>
            <a:avLst/>
            <a:gdLst/>
            <a:ahLst/>
            <a:cxnLst/>
            <a:rect l="0" t="0" r="0" b="0"/>
            <a:pathLst>
              <a:path w="1558872" h="659961">
                <a:moveTo>
                  <a:pt x="0" y="659961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8" name="pt168"/>
          <p:cNvSpPr/>
          <p:nvPr/>
        </p:nvSpPr>
        <p:spPr>
          <a:xfrm>
            <a:off x="4918665" y="2586666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t169"/>
          <p:cNvSpPr/>
          <p:nvPr/>
        </p:nvSpPr>
        <p:spPr>
          <a:xfrm>
            <a:off x="4293611" y="2762855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0" name="pt170"/>
          <p:cNvSpPr/>
          <p:nvPr/>
        </p:nvSpPr>
        <p:spPr>
          <a:xfrm>
            <a:off x="4385485" y="2744158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1" name="pt171"/>
          <p:cNvSpPr/>
          <p:nvPr/>
        </p:nvSpPr>
        <p:spPr>
          <a:xfrm>
            <a:off x="5550213" y="2296604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2" name="pt172"/>
          <p:cNvSpPr/>
          <p:nvPr/>
        </p:nvSpPr>
        <p:spPr>
          <a:xfrm>
            <a:off x="4319480" y="2818243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t173"/>
          <p:cNvSpPr/>
          <p:nvPr/>
        </p:nvSpPr>
        <p:spPr>
          <a:xfrm>
            <a:off x="4524978" y="2811148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4" name="pt174"/>
          <p:cNvSpPr/>
          <p:nvPr/>
        </p:nvSpPr>
        <p:spPr>
          <a:xfrm>
            <a:off x="5013481" y="2704906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5" name="pt175"/>
          <p:cNvSpPr/>
          <p:nvPr/>
        </p:nvSpPr>
        <p:spPr>
          <a:xfrm>
            <a:off x="4545735" y="2722572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6" name="pt176"/>
          <p:cNvSpPr/>
          <p:nvPr/>
        </p:nvSpPr>
        <p:spPr>
          <a:xfrm>
            <a:off x="5064695" y="2697067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t177"/>
          <p:cNvSpPr/>
          <p:nvPr/>
        </p:nvSpPr>
        <p:spPr>
          <a:xfrm>
            <a:off x="4332177" y="2785846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pt178"/>
          <p:cNvSpPr/>
          <p:nvPr/>
        </p:nvSpPr>
        <p:spPr>
          <a:xfrm>
            <a:off x="4589293" y="2701947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9" name="pt179"/>
          <p:cNvSpPr/>
          <p:nvPr/>
        </p:nvSpPr>
        <p:spPr>
          <a:xfrm>
            <a:off x="4587071" y="2694524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" name="pt180"/>
          <p:cNvSpPr/>
          <p:nvPr/>
        </p:nvSpPr>
        <p:spPr>
          <a:xfrm>
            <a:off x="4534544" y="2775265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1" name="pt181"/>
          <p:cNvSpPr/>
          <p:nvPr/>
        </p:nvSpPr>
        <p:spPr>
          <a:xfrm>
            <a:off x="4750700" y="2770193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2" name="pt182"/>
          <p:cNvSpPr/>
          <p:nvPr/>
        </p:nvSpPr>
        <p:spPr>
          <a:xfrm>
            <a:off x="4446707" y="2753758"/>
            <a:ext cx="49651" cy="49651"/>
          </a:xfrm>
          <a:prstGeom prst="ellipse">
            <a:avLst/>
          </a:prstGeom>
          <a:solidFill>
            <a:srgbClr val="C77CFF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3" name="rc183"/>
          <p:cNvSpPr/>
          <p:nvPr/>
        </p:nvSpPr>
        <p:spPr>
          <a:xfrm>
            <a:off x="4210363" y="22813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4" name="tx184"/>
          <p:cNvSpPr/>
          <p:nvPr/>
        </p:nvSpPr>
        <p:spPr>
          <a:xfrm>
            <a:off x="4023422" y="2746057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85" name="tx185"/>
          <p:cNvSpPr/>
          <p:nvPr/>
        </p:nvSpPr>
        <p:spPr>
          <a:xfrm>
            <a:off x="4023422" y="256965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86" name="tx186"/>
          <p:cNvSpPr/>
          <p:nvPr/>
        </p:nvSpPr>
        <p:spPr>
          <a:xfrm>
            <a:off x="4023422" y="239319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87" name="pl187"/>
          <p:cNvSpPr/>
          <p:nvPr/>
        </p:nvSpPr>
        <p:spPr>
          <a:xfrm>
            <a:off x="4175569" y="278780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8" name="pl188"/>
          <p:cNvSpPr/>
          <p:nvPr/>
        </p:nvSpPr>
        <p:spPr>
          <a:xfrm>
            <a:off x="4175569" y="261134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9" name="pl189"/>
          <p:cNvSpPr/>
          <p:nvPr/>
        </p:nvSpPr>
        <p:spPr>
          <a:xfrm>
            <a:off x="4175569" y="243488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0" name="pl190"/>
          <p:cNvSpPr/>
          <p:nvPr/>
        </p:nvSpPr>
        <p:spPr>
          <a:xfrm>
            <a:off x="4572989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1" name="pl191"/>
          <p:cNvSpPr/>
          <p:nvPr/>
        </p:nvSpPr>
        <p:spPr>
          <a:xfrm>
            <a:off x="4989799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2" name="pl192"/>
          <p:cNvSpPr/>
          <p:nvPr/>
        </p:nvSpPr>
        <p:spPr>
          <a:xfrm>
            <a:off x="5406610" y="29413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3" name="tx193"/>
          <p:cNvSpPr/>
          <p:nvPr/>
        </p:nvSpPr>
        <p:spPr>
          <a:xfrm>
            <a:off x="4510833" y="3002208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94" name="tx194"/>
          <p:cNvSpPr/>
          <p:nvPr/>
        </p:nvSpPr>
        <p:spPr>
          <a:xfrm>
            <a:off x="4927644" y="30022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195" name="tx195"/>
          <p:cNvSpPr/>
          <p:nvPr/>
        </p:nvSpPr>
        <p:spPr>
          <a:xfrm>
            <a:off x="5344455" y="30022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96" name="tx196"/>
          <p:cNvSpPr/>
          <p:nvPr/>
        </p:nvSpPr>
        <p:spPr>
          <a:xfrm>
            <a:off x="4092902" y="3121875"/>
            <a:ext cx="1793794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Observed Age at Conversion</a:t>
            </a:r>
          </a:p>
        </p:txBody>
      </p:sp>
      <p:sp>
        <p:nvSpPr>
          <p:cNvPr id="197" name="tx197"/>
          <p:cNvSpPr/>
          <p:nvPr/>
        </p:nvSpPr>
        <p:spPr>
          <a:xfrm rot="16200000">
            <a:off x="2996306" y="2625104"/>
            <a:ext cx="1778310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Predicted Age</a:t>
            </a:r>
            <a:endParaRPr lang="en-US" sz="11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at Conversion</a:t>
            </a:r>
          </a:p>
        </p:txBody>
      </p:sp>
      <p:sp>
        <p:nvSpPr>
          <p:cNvPr id="198" name="rc198"/>
          <p:cNvSpPr/>
          <p:nvPr/>
        </p:nvSpPr>
        <p:spPr>
          <a:xfrm>
            <a:off x="1724025" y="3583373"/>
            <a:ext cx="2057399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rc199"/>
          <p:cNvSpPr/>
          <p:nvPr/>
        </p:nvSpPr>
        <p:spPr>
          <a:xfrm>
            <a:off x="2152963" y="36529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" name="pl200"/>
          <p:cNvSpPr/>
          <p:nvPr/>
        </p:nvSpPr>
        <p:spPr>
          <a:xfrm>
            <a:off x="2152963" y="4276297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1" name="pl201"/>
          <p:cNvSpPr/>
          <p:nvPr/>
        </p:nvSpPr>
        <p:spPr>
          <a:xfrm>
            <a:off x="2152963" y="4044786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2" name="pl202"/>
          <p:cNvSpPr/>
          <p:nvPr/>
        </p:nvSpPr>
        <p:spPr>
          <a:xfrm>
            <a:off x="2152963" y="3813276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3" name="pl203"/>
          <p:cNvSpPr/>
          <p:nvPr/>
        </p:nvSpPr>
        <p:spPr>
          <a:xfrm>
            <a:off x="2460014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4" name="pl204"/>
          <p:cNvSpPr/>
          <p:nvPr/>
        </p:nvSpPr>
        <p:spPr>
          <a:xfrm>
            <a:off x="2932399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5" name="pl205"/>
          <p:cNvSpPr/>
          <p:nvPr/>
        </p:nvSpPr>
        <p:spPr>
          <a:xfrm>
            <a:off x="3404785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6" name="pl206"/>
          <p:cNvSpPr/>
          <p:nvPr/>
        </p:nvSpPr>
        <p:spPr>
          <a:xfrm>
            <a:off x="2152963" y="416054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7" name="pl207"/>
          <p:cNvSpPr/>
          <p:nvPr/>
        </p:nvSpPr>
        <p:spPr>
          <a:xfrm>
            <a:off x="2152963" y="392903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8" name="pl208"/>
          <p:cNvSpPr/>
          <p:nvPr/>
        </p:nvSpPr>
        <p:spPr>
          <a:xfrm>
            <a:off x="2152963" y="3697521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9" name="pl209"/>
          <p:cNvSpPr/>
          <p:nvPr/>
        </p:nvSpPr>
        <p:spPr>
          <a:xfrm>
            <a:off x="2223821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0" name="pl210"/>
          <p:cNvSpPr/>
          <p:nvPr/>
        </p:nvSpPr>
        <p:spPr>
          <a:xfrm>
            <a:off x="2696207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1" name="pl211"/>
          <p:cNvSpPr/>
          <p:nvPr/>
        </p:nvSpPr>
        <p:spPr>
          <a:xfrm>
            <a:off x="3168592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2" name="pl212"/>
          <p:cNvSpPr/>
          <p:nvPr/>
        </p:nvSpPr>
        <p:spPr>
          <a:xfrm>
            <a:off x="3640978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4" name="pg214"/>
          <p:cNvSpPr/>
          <p:nvPr/>
        </p:nvSpPr>
        <p:spPr>
          <a:xfrm>
            <a:off x="2816352" y="3666694"/>
            <a:ext cx="826674" cy="599964"/>
          </a:xfrm>
          <a:custGeom>
            <a:avLst/>
            <a:gdLst/>
            <a:ahLst/>
            <a:cxnLst/>
            <a:rect l="0" t="0" r="0" b="0"/>
            <a:pathLst>
              <a:path w="826674" h="599964">
                <a:moveTo>
                  <a:pt x="0" y="278552"/>
                </a:moveTo>
                <a:lnTo>
                  <a:pt x="23619" y="277877"/>
                </a:lnTo>
                <a:lnTo>
                  <a:pt x="47238" y="277914"/>
                </a:lnTo>
                <a:lnTo>
                  <a:pt x="70857" y="278593"/>
                </a:lnTo>
                <a:lnTo>
                  <a:pt x="94477" y="271108"/>
                </a:lnTo>
                <a:lnTo>
                  <a:pt x="118096" y="262272"/>
                </a:lnTo>
                <a:lnTo>
                  <a:pt x="141715" y="259023"/>
                </a:lnTo>
                <a:lnTo>
                  <a:pt x="165334" y="257447"/>
                </a:lnTo>
                <a:lnTo>
                  <a:pt x="188954" y="249112"/>
                </a:lnTo>
                <a:lnTo>
                  <a:pt x="212573" y="239516"/>
                </a:lnTo>
                <a:lnTo>
                  <a:pt x="236192" y="230761"/>
                </a:lnTo>
                <a:lnTo>
                  <a:pt x="259812" y="226449"/>
                </a:lnTo>
                <a:lnTo>
                  <a:pt x="283431" y="218296"/>
                </a:lnTo>
                <a:lnTo>
                  <a:pt x="307050" y="211223"/>
                </a:lnTo>
                <a:lnTo>
                  <a:pt x="330669" y="202455"/>
                </a:lnTo>
                <a:lnTo>
                  <a:pt x="354289" y="194228"/>
                </a:lnTo>
                <a:lnTo>
                  <a:pt x="377908" y="186595"/>
                </a:lnTo>
                <a:lnTo>
                  <a:pt x="401527" y="179427"/>
                </a:lnTo>
                <a:lnTo>
                  <a:pt x="425146" y="170719"/>
                </a:lnTo>
                <a:lnTo>
                  <a:pt x="448766" y="163244"/>
                </a:lnTo>
                <a:lnTo>
                  <a:pt x="472385" y="152886"/>
                </a:lnTo>
                <a:lnTo>
                  <a:pt x="496004" y="139738"/>
                </a:lnTo>
                <a:lnTo>
                  <a:pt x="519624" y="135621"/>
                </a:lnTo>
                <a:lnTo>
                  <a:pt x="543243" y="126917"/>
                </a:lnTo>
                <a:lnTo>
                  <a:pt x="566862" y="117435"/>
                </a:lnTo>
                <a:lnTo>
                  <a:pt x="590481" y="111681"/>
                </a:lnTo>
                <a:lnTo>
                  <a:pt x="614101" y="101979"/>
                </a:lnTo>
                <a:lnTo>
                  <a:pt x="637720" y="89275"/>
                </a:lnTo>
                <a:lnTo>
                  <a:pt x="661339" y="77615"/>
                </a:lnTo>
                <a:lnTo>
                  <a:pt x="684958" y="64752"/>
                </a:lnTo>
                <a:lnTo>
                  <a:pt x="708578" y="52949"/>
                </a:lnTo>
                <a:lnTo>
                  <a:pt x="732197" y="42680"/>
                </a:lnTo>
                <a:lnTo>
                  <a:pt x="755816" y="32123"/>
                </a:lnTo>
                <a:lnTo>
                  <a:pt x="779436" y="19283"/>
                </a:lnTo>
                <a:lnTo>
                  <a:pt x="803055" y="13086"/>
                </a:lnTo>
                <a:lnTo>
                  <a:pt x="826674" y="0"/>
                </a:lnTo>
                <a:lnTo>
                  <a:pt x="826674" y="496854"/>
                </a:lnTo>
                <a:lnTo>
                  <a:pt x="803055" y="496716"/>
                </a:lnTo>
                <a:lnTo>
                  <a:pt x="779436" y="492762"/>
                </a:lnTo>
                <a:lnTo>
                  <a:pt x="755816" y="496892"/>
                </a:lnTo>
                <a:lnTo>
                  <a:pt x="732197" y="498318"/>
                </a:lnTo>
                <a:lnTo>
                  <a:pt x="708578" y="502877"/>
                </a:lnTo>
                <a:lnTo>
                  <a:pt x="684958" y="504379"/>
                </a:lnTo>
                <a:lnTo>
                  <a:pt x="661339" y="509036"/>
                </a:lnTo>
                <a:lnTo>
                  <a:pt x="637720" y="510021"/>
                </a:lnTo>
                <a:lnTo>
                  <a:pt x="614101" y="514031"/>
                </a:lnTo>
                <a:lnTo>
                  <a:pt x="590481" y="515316"/>
                </a:lnTo>
                <a:lnTo>
                  <a:pt x="566862" y="518159"/>
                </a:lnTo>
                <a:lnTo>
                  <a:pt x="543243" y="521354"/>
                </a:lnTo>
                <a:lnTo>
                  <a:pt x="519624" y="524636"/>
                </a:lnTo>
                <a:lnTo>
                  <a:pt x="496004" y="527057"/>
                </a:lnTo>
                <a:lnTo>
                  <a:pt x="472385" y="529597"/>
                </a:lnTo>
                <a:lnTo>
                  <a:pt x="448766" y="530997"/>
                </a:lnTo>
                <a:lnTo>
                  <a:pt x="425146" y="534343"/>
                </a:lnTo>
                <a:lnTo>
                  <a:pt x="401527" y="541360"/>
                </a:lnTo>
                <a:lnTo>
                  <a:pt x="377908" y="546877"/>
                </a:lnTo>
                <a:lnTo>
                  <a:pt x="354289" y="552760"/>
                </a:lnTo>
                <a:lnTo>
                  <a:pt x="330669" y="556534"/>
                </a:lnTo>
                <a:lnTo>
                  <a:pt x="307050" y="558829"/>
                </a:lnTo>
                <a:lnTo>
                  <a:pt x="283431" y="563151"/>
                </a:lnTo>
                <a:lnTo>
                  <a:pt x="259812" y="565402"/>
                </a:lnTo>
                <a:lnTo>
                  <a:pt x="236192" y="568660"/>
                </a:lnTo>
                <a:lnTo>
                  <a:pt x="212573" y="569470"/>
                </a:lnTo>
                <a:lnTo>
                  <a:pt x="188954" y="569450"/>
                </a:lnTo>
                <a:lnTo>
                  <a:pt x="165334" y="570893"/>
                </a:lnTo>
                <a:lnTo>
                  <a:pt x="141715" y="576737"/>
                </a:lnTo>
                <a:lnTo>
                  <a:pt x="118096" y="581593"/>
                </a:lnTo>
                <a:lnTo>
                  <a:pt x="94477" y="580418"/>
                </a:lnTo>
                <a:lnTo>
                  <a:pt x="70857" y="581399"/>
                </a:lnTo>
                <a:lnTo>
                  <a:pt x="47238" y="588304"/>
                </a:lnTo>
                <a:lnTo>
                  <a:pt x="23619" y="594041"/>
                </a:lnTo>
                <a:lnTo>
                  <a:pt x="0" y="599964"/>
                </a:lnTo>
                <a:close/>
              </a:path>
            </a:pathLst>
          </a:custGeom>
          <a:solidFill>
            <a:srgbClr val="FEF1F0"/>
          </a:solidFill>
        </p:spPr>
        <p:txBody>
          <a:bodyPr/>
          <a:lstStyle/>
          <a:p>
            <a:endParaRPr/>
          </a:p>
        </p:txBody>
      </p:sp>
      <p:sp>
        <p:nvSpPr>
          <p:cNvPr id="215" name="pl215"/>
          <p:cNvSpPr/>
          <p:nvPr/>
        </p:nvSpPr>
        <p:spPr>
          <a:xfrm>
            <a:off x="2814303" y="3682960"/>
            <a:ext cx="826674" cy="278593"/>
          </a:xfrm>
          <a:custGeom>
            <a:avLst/>
            <a:gdLst/>
            <a:ahLst/>
            <a:cxnLst/>
            <a:rect l="0" t="0" r="0" b="0"/>
            <a:pathLst>
              <a:path w="826674" h="278593">
                <a:moveTo>
                  <a:pt x="0" y="278552"/>
                </a:moveTo>
                <a:lnTo>
                  <a:pt x="23619" y="277877"/>
                </a:lnTo>
                <a:lnTo>
                  <a:pt x="47238" y="277914"/>
                </a:lnTo>
                <a:lnTo>
                  <a:pt x="70857" y="278593"/>
                </a:lnTo>
                <a:lnTo>
                  <a:pt x="94477" y="271108"/>
                </a:lnTo>
                <a:lnTo>
                  <a:pt x="118096" y="262272"/>
                </a:lnTo>
                <a:lnTo>
                  <a:pt x="141715" y="259023"/>
                </a:lnTo>
                <a:lnTo>
                  <a:pt x="165334" y="257447"/>
                </a:lnTo>
                <a:lnTo>
                  <a:pt x="188954" y="249112"/>
                </a:lnTo>
                <a:lnTo>
                  <a:pt x="212573" y="239516"/>
                </a:lnTo>
                <a:lnTo>
                  <a:pt x="236192" y="230761"/>
                </a:lnTo>
                <a:lnTo>
                  <a:pt x="259812" y="226449"/>
                </a:lnTo>
                <a:lnTo>
                  <a:pt x="283431" y="218296"/>
                </a:lnTo>
                <a:lnTo>
                  <a:pt x="307050" y="211223"/>
                </a:lnTo>
                <a:lnTo>
                  <a:pt x="330669" y="202455"/>
                </a:lnTo>
                <a:lnTo>
                  <a:pt x="354289" y="194228"/>
                </a:lnTo>
                <a:lnTo>
                  <a:pt x="377908" y="186595"/>
                </a:lnTo>
                <a:lnTo>
                  <a:pt x="401527" y="179427"/>
                </a:lnTo>
                <a:lnTo>
                  <a:pt x="425146" y="170719"/>
                </a:lnTo>
                <a:lnTo>
                  <a:pt x="448766" y="163244"/>
                </a:lnTo>
                <a:lnTo>
                  <a:pt x="472385" y="152886"/>
                </a:lnTo>
                <a:lnTo>
                  <a:pt x="496004" y="139738"/>
                </a:lnTo>
                <a:lnTo>
                  <a:pt x="519624" y="135621"/>
                </a:lnTo>
                <a:lnTo>
                  <a:pt x="543243" y="126917"/>
                </a:lnTo>
                <a:lnTo>
                  <a:pt x="566862" y="117435"/>
                </a:lnTo>
                <a:lnTo>
                  <a:pt x="590481" y="111681"/>
                </a:lnTo>
                <a:lnTo>
                  <a:pt x="614101" y="101979"/>
                </a:lnTo>
                <a:lnTo>
                  <a:pt x="637720" y="89275"/>
                </a:lnTo>
                <a:lnTo>
                  <a:pt x="661339" y="77615"/>
                </a:lnTo>
                <a:lnTo>
                  <a:pt x="684958" y="64752"/>
                </a:lnTo>
                <a:lnTo>
                  <a:pt x="708578" y="52949"/>
                </a:lnTo>
                <a:lnTo>
                  <a:pt x="732197" y="42680"/>
                </a:lnTo>
                <a:lnTo>
                  <a:pt x="755816" y="32123"/>
                </a:lnTo>
                <a:lnTo>
                  <a:pt x="779436" y="19283"/>
                </a:lnTo>
                <a:lnTo>
                  <a:pt x="803055" y="13086"/>
                </a:lnTo>
                <a:lnTo>
                  <a:pt x="826674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6" name="pl216"/>
          <p:cNvSpPr/>
          <p:nvPr/>
        </p:nvSpPr>
        <p:spPr>
          <a:xfrm>
            <a:off x="2814303" y="4175722"/>
            <a:ext cx="826674" cy="107202"/>
          </a:xfrm>
          <a:custGeom>
            <a:avLst/>
            <a:gdLst/>
            <a:ahLst/>
            <a:cxnLst/>
            <a:rect l="0" t="0" r="0" b="0"/>
            <a:pathLst>
              <a:path w="826674" h="107202">
                <a:moveTo>
                  <a:pt x="826674" y="4091"/>
                </a:moveTo>
                <a:lnTo>
                  <a:pt x="803055" y="3954"/>
                </a:lnTo>
                <a:lnTo>
                  <a:pt x="779436" y="0"/>
                </a:lnTo>
                <a:lnTo>
                  <a:pt x="755816" y="4129"/>
                </a:lnTo>
                <a:lnTo>
                  <a:pt x="732197" y="5555"/>
                </a:lnTo>
                <a:lnTo>
                  <a:pt x="708578" y="10114"/>
                </a:lnTo>
                <a:lnTo>
                  <a:pt x="684958" y="11616"/>
                </a:lnTo>
                <a:lnTo>
                  <a:pt x="661339" y="16273"/>
                </a:lnTo>
                <a:lnTo>
                  <a:pt x="637720" y="17258"/>
                </a:lnTo>
                <a:lnTo>
                  <a:pt x="614101" y="21269"/>
                </a:lnTo>
                <a:lnTo>
                  <a:pt x="590481" y="22554"/>
                </a:lnTo>
                <a:lnTo>
                  <a:pt x="566862" y="25396"/>
                </a:lnTo>
                <a:lnTo>
                  <a:pt x="543243" y="28591"/>
                </a:lnTo>
                <a:lnTo>
                  <a:pt x="519624" y="31873"/>
                </a:lnTo>
                <a:lnTo>
                  <a:pt x="496004" y="34294"/>
                </a:lnTo>
                <a:lnTo>
                  <a:pt x="472385" y="36834"/>
                </a:lnTo>
                <a:lnTo>
                  <a:pt x="448766" y="38234"/>
                </a:lnTo>
                <a:lnTo>
                  <a:pt x="425146" y="41580"/>
                </a:lnTo>
                <a:lnTo>
                  <a:pt x="401527" y="48598"/>
                </a:lnTo>
                <a:lnTo>
                  <a:pt x="377908" y="54115"/>
                </a:lnTo>
                <a:lnTo>
                  <a:pt x="354289" y="59998"/>
                </a:lnTo>
                <a:lnTo>
                  <a:pt x="330669" y="63772"/>
                </a:lnTo>
                <a:lnTo>
                  <a:pt x="307050" y="66067"/>
                </a:lnTo>
                <a:lnTo>
                  <a:pt x="283431" y="70389"/>
                </a:lnTo>
                <a:lnTo>
                  <a:pt x="259812" y="72639"/>
                </a:lnTo>
                <a:lnTo>
                  <a:pt x="236192" y="75898"/>
                </a:lnTo>
                <a:lnTo>
                  <a:pt x="212573" y="76707"/>
                </a:lnTo>
                <a:lnTo>
                  <a:pt x="188954" y="76687"/>
                </a:lnTo>
                <a:lnTo>
                  <a:pt x="165334" y="78130"/>
                </a:lnTo>
                <a:lnTo>
                  <a:pt x="141715" y="83974"/>
                </a:lnTo>
                <a:lnTo>
                  <a:pt x="118096" y="88831"/>
                </a:lnTo>
                <a:lnTo>
                  <a:pt x="94477" y="87655"/>
                </a:lnTo>
                <a:lnTo>
                  <a:pt x="70857" y="88636"/>
                </a:lnTo>
                <a:lnTo>
                  <a:pt x="47238" y="95541"/>
                </a:lnTo>
                <a:lnTo>
                  <a:pt x="23619" y="101279"/>
                </a:lnTo>
                <a:lnTo>
                  <a:pt x="0" y="107202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7" name="rc217"/>
          <p:cNvSpPr/>
          <p:nvPr/>
        </p:nvSpPr>
        <p:spPr>
          <a:xfrm>
            <a:off x="2152963" y="36529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8" name="tx218"/>
          <p:cNvSpPr/>
          <p:nvPr/>
        </p:nvSpPr>
        <p:spPr>
          <a:xfrm>
            <a:off x="2028178" y="4118850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19" name="tx219"/>
          <p:cNvSpPr/>
          <p:nvPr/>
        </p:nvSpPr>
        <p:spPr>
          <a:xfrm>
            <a:off x="1966022" y="3887340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20" name="tx220"/>
          <p:cNvSpPr/>
          <p:nvPr/>
        </p:nvSpPr>
        <p:spPr>
          <a:xfrm>
            <a:off x="1966022" y="3655829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221" name="pl221"/>
          <p:cNvSpPr/>
          <p:nvPr/>
        </p:nvSpPr>
        <p:spPr>
          <a:xfrm>
            <a:off x="2118169" y="416054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2" name="pl222"/>
          <p:cNvSpPr/>
          <p:nvPr/>
        </p:nvSpPr>
        <p:spPr>
          <a:xfrm>
            <a:off x="2118169" y="392903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3" name="pl223"/>
          <p:cNvSpPr/>
          <p:nvPr/>
        </p:nvSpPr>
        <p:spPr>
          <a:xfrm>
            <a:off x="2118169" y="369752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4" name="pl224"/>
          <p:cNvSpPr/>
          <p:nvPr/>
        </p:nvSpPr>
        <p:spPr>
          <a:xfrm>
            <a:off x="2223821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5" name="pl225"/>
          <p:cNvSpPr/>
          <p:nvPr/>
        </p:nvSpPr>
        <p:spPr>
          <a:xfrm>
            <a:off x="2696207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6" name="pl226"/>
          <p:cNvSpPr/>
          <p:nvPr/>
        </p:nvSpPr>
        <p:spPr>
          <a:xfrm>
            <a:off x="3168592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7" name="pl227"/>
          <p:cNvSpPr/>
          <p:nvPr/>
        </p:nvSpPr>
        <p:spPr>
          <a:xfrm>
            <a:off x="3640978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8" name="tx228"/>
          <p:cNvSpPr/>
          <p:nvPr/>
        </p:nvSpPr>
        <p:spPr>
          <a:xfrm>
            <a:off x="2143057" y="4373861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-10</a:t>
            </a:r>
          </a:p>
        </p:txBody>
      </p:sp>
      <p:sp>
        <p:nvSpPr>
          <p:cNvPr id="229" name="tx229"/>
          <p:cNvSpPr/>
          <p:nvPr/>
        </p:nvSpPr>
        <p:spPr>
          <a:xfrm>
            <a:off x="2665129" y="4373861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30" name="tx230"/>
          <p:cNvSpPr/>
          <p:nvPr/>
        </p:nvSpPr>
        <p:spPr>
          <a:xfrm>
            <a:off x="3106437" y="43738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231" name="tx231"/>
          <p:cNvSpPr/>
          <p:nvPr/>
        </p:nvSpPr>
        <p:spPr>
          <a:xfrm>
            <a:off x="3578822" y="43738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232" name="tx232"/>
          <p:cNvSpPr/>
          <p:nvPr/>
        </p:nvSpPr>
        <p:spPr>
          <a:xfrm>
            <a:off x="2204568" y="4521305"/>
            <a:ext cx="1455663" cy="1033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Estimated time from A+</a:t>
            </a:r>
          </a:p>
        </p:txBody>
      </p:sp>
      <p:sp>
        <p:nvSpPr>
          <p:cNvPr id="233" name="tx233"/>
          <p:cNvSpPr/>
          <p:nvPr/>
        </p:nvSpPr>
        <p:spPr>
          <a:xfrm rot="16200000">
            <a:off x="971580" y="3876978"/>
            <a:ext cx="1715895" cy="1281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234" name="rc234"/>
          <p:cNvSpPr/>
          <p:nvPr/>
        </p:nvSpPr>
        <p:spPr>
          <a:xfrm>
            <a:off x="3781425" y="3583373"/>
            <a:ext cx="2057400" cy="113943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" name="rc235"/>
          <p:cNvSpPr/>
          <p:nvPr/>
        </p:nvSpPr>
        <p:spPr>
          <a:xfrm>
            <a:off x="4210363" y="3652962"/>
            <a:ext cx="1558872" cy="65996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6" name="pl236"/>
          <p:cNvSpPr/>
          <p:nvPr/>
        </p:nvSpPr>
        <p:spPr>
          <a:xfrm>
            <a:off x="4210363" y="424763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7" name="pl237"/>
          <p:cNvSpPr/>
          <p:nvPr/>
        </p:nvSpPr>
        <p:spPr>
          <a:xfrm>
            <a:off x="4210363" y="407117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" name="pl238"/>
          <p:cNvSpPr/>
          <p:nvPr/>
        </p:nvSpPr>
        <p:spPr>
          <a:xfrm>
            <a:off x="4210363" y="389471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" name="pl239"/>
          <p:cNvSpPr/>
          <p:nvPr/>
        </p:nvSpPr>
        <p:spPr>
          <a:xfrm>
            <a:off x="4210363" y="371825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" name="pl240"/>
          <p:cNvSpPr/>
          <p:nvPr/>
        </p:nvSpPr>
        <p:spPr>
          <a:xfrm>
            <a:off x="4364583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1" name="pl241"/>
          <p:cNvSpPr/>
          <p:nvPr/>
        </p:nvSpPr>
        <p:spPr>
          <a:xfrm>
            <a:off x="4781394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2" name="pl242"/>
          <p:cNvSpPr/>
          <p:nvPr/>
        </p:nvSpPr>
        <p:spPr>
          <a:xfrm>
            <a:off x="5198205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3" name="pl243"/>
          <p:cNvSpPr/>
          <p:nvPr/>
        </p:nvSpPr>
        <p:spPr>
          <a:xfrm>
            <a:off x="5615015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4" name="pl244"/>
          <p:cNvSpPr/>
          <p:nvPr/>
        </p:nvSpPr>
        <p:spPr>
          <a:xfrm>
            <a:off x="4210363" y="4159403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5" name="pl245"/>
          <p:cNvSpPr/>
          <p:nvPr/>
        </p:nvSpPr>
        <p:spPr>
          <a:xfrm>
            <a:off x="4210363" y="398294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6" name="pl246"/>
          <p:cNvSpPr/>
          <p:nvPr/>
        </p:nvSpPr>
        <p:spPr>
          <a:xfrm>
            <a:off x="4210363" y="3806482"/>
            <a:ext cx="1558872" cy="0"/>
          </a:xfrm>
          <a:custGeom>
            <a:avLst/>
            <a:gdLst/>
            <a:ahLst/>
            <a:cxnLst/>
            <a:rect l="0" t="0" r="0" b="0"/>
            <a:pathLst>
              <a:path w="1558872">
                <a:moveTo>
                  <a:pt x="0" y="0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7" name="pl247"/>
          <p:cNvSpPr/>
          <p:nvPr/>
        </p:nvSpPr>
        <p:spPr>
          <a:xfrm>
            <a:off x="4572989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8" name="pl248"/>
          <p:cNvSpPr/>
          <p:nvPr/>
        </p:nvSpPr>
        <p:spPr>
          <a:xfrm>
            <a:off x="4989799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9" name="pl249"/>
          <p:cNvSpPr/>
          <p:nvPr/>
        </p:nvSpPr>
        <p:spPr>
          <a:xfrm>
            <a:off x="5406610" y="3652962"/>
            <a:ext cx="0" cy="659961"/>
          </a:xfrm>
          <a:custGeom>
            <a:avLst/>
            <a:gdLst/>
            <a:ahLst/>
            <a:cxnLst/>
            <a:rect l="0" t="0" r="0" b="0"/>
            <a:pathLst>
              <a:path h="659961">
                <a:moveTo>
                  <a:pt x="0" y="65996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0" name="pl250"/>
          <p:cNvSpPr/>
          <p:nvPr/>
        </p:nvSpPr>
        <p:spPr>
          <a:xfrm>
            <a:off x="4210363" y="3652962"/>
            <a:ext cx="1558872" cy="659961"/>
          </a:xfrm>
          <a:custGeom>
            <a:avLst/>
            <a:gdLst/>
            <a:ahLst/>
            <a:cxnLst/>
            <a:rect l="0" t="0" r="0" b="0"/>
            <a:pathLst>
              <a:path w="1558872" h="659961">
                <a:moveTo>
                  <a:pt x="0" y="659961"/>
                </a:moveTo>
                <a:lnTo>
                  <a:pt x="1558872" y="0"/>
                </a:lnTo>
                <a:lnTo>
                  <a:pt x="155887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4" name="pt254"/>
          <p:cNvSpPr/>
          <p:nvPr/>
        </p:nvSpPr>
        <p:spPr>
          <a:xfrm>
            <a:off x="4415647" y="414328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5" name="pt255"/>
          <p:cNvSpPr/>
          <p:nvPr/>
        </p:nvSpPr>
        <p:spPr>
          <a:xfrm>
            <a:off x="4918665" y="3941220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6" name="pt256"/>
          <p:cNvSpPr/>
          <p:nvPr/>
        </p:nvSpPr>
        <p:spPr>
          <a:xfrm>
            <a:off x="4560712" y="416602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7" name="pt257"/>
          <p:cNvSpPr/>
          <p:nvPr/>
        </p:nvSpPr>
        <p:spPr>
          <a:xfrm>
            <a:off x="5418843" y="386724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8" name="pt258"/>
          <p:cNvSpPr/>
          <p:nvPr/>
        </p:nvSpPr>
        <p:spPr>
          <a:xfrm>
            <a:off x="5115760" y="4169805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9" name="pt259"/>
          <p:cNvSpPr/>
          <p:nvPr/>
        </p:nvSpPr>
        <p:spPr>
          <a:xfrm>
            <a:off x="5460968" y="403800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0" name="pt260"/>
          <p:cNvSpPr/>
          <p:nvPr/>
        </p:nvSpPr>
        <p:spPr>
          <a:xfrm>
            <a:off x="5192785" y="3917025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1" name="pt261"/>
          <p:cNvSpPr/>
          <p:nvPr/>
        </p:nvSpPr>
        <p:spPr>
          <a:xfrm>
            <a:off x="5264737" y="377437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2" name="pt262"/>
          <p:cNvSpPr/>
          <p:nvPr/>
        </p:nvSpPr>
        <p:spPr>
          <a:xfrm>
            <a:off x="4266357" y="422263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3" name="pt263"/>
          <p:cNvSpPr/>
          <p:nvPr/>
        </p:nvSpPr>
        <p:spPr>
          <a:xfrm>
            <a:off x="4930612" y="419044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4" name="pt264"/>
          <p:cNvSpPr/>
          <p:nvPr/>
        </p:nvSpPr>
        <p:spPr>
          <a:xfrm>
            <a:off x="5229234" y="376000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5" name="pt265"/>
          <p:cNvSpPr/>
          <p:nvPr/>
        </p:nvSpPr>
        <p:spPr>
          <a:xfrm>
            <a:off x="4579182" y="3995114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6" name="pt266"/>
          <p:cNvSpPr/>
          <p:nvPr/>
        </p:nvSpPr>
        <p:spPr>
          <a:xfrm>
            <a:off x="5621015" y="383961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7" name="pt267"/>
          <p:cNvSpPr/>
          <p:nvPr/>
        </p:nvSpPr>
        <p:spPr>
          <a:xfrm>
            <a:off x="4894582" y="407842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8" name="pt268"/>
          <p:cNvSpPr/>
          <p:nvPr/>
        </p:nvSpPr>
        <p:spPr>
          <a:xfrm>
            <a:off x="5417611" y="377908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9" name="pt269"/>
          <p:cNvSpPr/>
          <p:nvPr/>
        </p:nvSpPr>
        <p:spPr>
          <a:xfrm>
            <a:off x="4888930" y="418089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0" name="pt270"/>
          <p:cNvSpPr/>
          <p:nvPr/>
        </p:nvSpPr>
        <p:spPr>
          <a:xfrm>
            <a:off x="4961943" y="420465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1" name="pt271"/>
          <p:cNvSpPr/>
          <p:nvPr/>
        </p:nvSpPr>
        <p:spPr>
          <a:xfrm>
            <a:off x="4960637" y="4068855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2" name="pt272"/>
          <p:cNvSpPr/>
          <p:nvPr/>
        </p:nvSpPr>
        <p:spPr>
          <a:xfrm>
            <a:off x="4426382" y="420363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3" name="pt273"/>
          <p:cNvSpPr/>
          <p:nvPr/>
        </p:nvSpPr>
        <p:spPr>
          <a:xfrm>
            <a:off x="4786953" y="3986629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4" name="pt274"/>
          <p:cNvSpPr/>
          <p:nvPr/>
        </p:nvSpPr>
        <p:spPr>
          <a:xfrm>
            <a:off x="4761885" y="412950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5" name="pt275"/>
          <p:cNvSpPr/>
          <p:nvPr/>
        </p:nvSpPr>
        <p:spPr>
          <a:xfrm>
            <a:off x="4716778" y="415952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6" name="pt276"/>
          <p:cNvSpPr/>
          <p:nvPr/>
        </p:nvSpPr>
        <p:spPr>
          <a:xfrm>
            <a:off x="4745735" y="4074844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7" name="pt277"/>
          <p:cNvSpPr/>
          <p:nvPr/>
        </p:nvSpPr>
        <p:spPr>
          <a:xfrm>
            <a:off x="4614859" y="406734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8" name="pt278"/>
          <p:cNvSpPr/>
          <p:nvPr/>
        </p:nvSpPr>
        <p:spPr>
          <a:xfrm>
            <a:off x="5468364" y="3918950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9" name="pt279"/>
          <p:cNvSpPr/>
          <p:nvPr/>
        </p:nvSpPr>
        <p:spPr>
          <a:xfrm>
            <a:off x="4450299" y="406817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0" name="pt280"/>
          <p:cNvSpPr/>
          <p:nvPr/>
        </p:nvSpPr>
        <p:spPr>
          <a:xfrm>
            <a:off x="5664581" y="377363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1" name="pt281"/>
          <p:cNvSpPr/>
          <p:nvPr/>
        </p:nvSpPr>
        <p:spPr>
          <a:xfrm>
            <a:off x="5585424" y="380006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2" name="pt282"/>
          <p:cNvSpPr/>
          <p:nvPr/>
        </p:nvSpPr>
        <p:spPr>
          <a:xfrm>
            <a:off x="4783770" y="394238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3" name="pt283"/>
          <p:cNvSpPr/>
          <p:nvPr/>
        </p:nvSpPr>
        <p:spPr>
          <a:xfrm>
            <a:off x="4735153" y="4108807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4" name="pt284"/>
          <p:cNvSpPr/>
          <p:nvPr/>
        </p:nvSpPr>
        <p:spPr>
          <a:xfrm>
            <a:off x="5657338" y="371279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5" name="pt285"/>
          <p:cNvSpPr/>
          <p:nvPr/>
        </p:nvSpPr>
        <p:spPr>
          <a:xfrm>
            <a:off x="5411288" y="3819024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6" name="pt286"/>
          <p:cNvSpPr/>
          <p:nvPr/>
        </p:nvSpPr>
        <p:spPr>
          <a:xfrm>
            <a:off x="5133555" y="3882536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7" name="pt287"/>
          <p:cNvSpPr/>
          <p:nvPr/>
        </p:nvSpPr>
        <p:spPr>
          <a:xfrm>
            <a:off x="4352081" y="414750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8" name="pt288"/>
          <p:cNvSpPr/>
          <p:nvPr/>
        </p:nvSpPr>
        <p:spPr>
          <a:xfrm>
            <a:off x="4583187" y="403273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9" name="pt289"/>
          <p:cNvSpPr/>
          <p:nvPr/>
        </p:nvSpPr>
        <p:spPr>
          <a:xfrm>
            <a:off x="4366231" y="416954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0" name="pt290"/>
          <p:cNvSpPr/>
          <p:nvPr/>
        </p:nvSpPr>
        <p:spPr>
          <a:xfrm>
            <a:off x="5426593" y="3848958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1" name="pt291"/>
          <p:cNvSpPr/>
          <p:nvPr/>
        </p:nvSpPr>
        <p:spPr>
          <a:xfrm>
            <a:off x="4867218" y="4050503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t292"/>
          <p:cNvSpPr/>
          <p:nvPr/>
        </p:nvSpPr>
        <p:spPr>
          <a:xfrm>
            <a:off x="4900179" y="413586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3" name="pt293"/>
          <p:cNvSpPr/>
          <p:nvPr/>
        </p:nvSpPr>
        <p:spPr>
          <a:xfrm>
            <a:off x="5670847" y="3838162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t294"/>
          <p:cNvSpPr/>
          <p:nvPr/>
        </p:nvSpPr>
        <p:spPr>
          <a:xfrm>
            <a:off x="5301828" y="4004661"/>
            <a:ext cx="49651" cy="49651"/>
          </a:xfrm>
          <a:prstGeom prst="ellipse">
            <a:avLst/>
          </a:prstGeom>
          <a:solidFill>
            <a:srgbClr val="F28780"/>
          </a:solidFill>
          <a:ln w="9000" cap="rnd">
            <a:noFill/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5" name="rc295"/>
          <p:cNvSpPr/>
          <p:nvPr/>
        </p:nvSpPr>
        <p:spPr>
          <a:xfrm>
            <a:off x="4210363" y="3652962"/>
            <a:ext cx="1558872" cy="659961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tx296"/>
          <p:cNvSpPr/>
          <p:nvPr/>
        </p:nvSpPr>
        <p:spPr>
          <a:xfrm>
            <a:off x="4023422" y="4117656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297" name="tx297"/>
          <p:cNvSpPr/>
          <p:nvPr/>
        </p:nvSpPr>
        <p:spPr>
          <a:xfrm>
            <a:off x="4023422" y="394125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298" name="tx298"/>
          <p:cNvSpPr/>
          <p:nvPr/>
        </p:nvSpPr>
        <p:spPr>
          <a:xfrm>
            <a:off x="4023422" y="3764790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299" name="pl299"/>
          <p:cNvSpPr/>
          <p:nvPr/>
        </p:nvSpPr>
        <p:spPr>
          <a:xfrm>
            <a:off x="4175569" y="415940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0" name="pl300"/>
          <p:cNvSpPr/>
          <p:nvPr/>
        </p:nvSpPr>
        <p:spPr>
          <a:xfrm>
            <a:off x="4175569" y="398294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1" name="pl301"/>
          <p:cNvSpPr/>
          <p:nvPr/>
        </p:nvSpPr>
        <p:spPr>
          <a:xfrm>
            <a:off x="4175569" y="3806482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2" name="pl302"/>
          <p:cNvSpPr/>
          <p:nvPr/>
        </p:nvSpPr>
        <p:spPr>
          <a:xfrm>
            <a:off x="4572989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3" name="pl303"/>
          <p:cNvSpPr/>
          <p:nvPr/>
        </p:nvSpPr>
        <p:spPr>
          <a:xfrm>
            <a:off x="4989799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4" name="pl304"/>
          <p:cNvSpPr/>
          <p:nvPr/>
        </p:nvSpPr>
        <p:spPr>
          <a:xfrm>
            <a:off x="5406610" y="43129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5" name="tx305"/>
          <p:cNvSpPr/>
          <p:nvPr/>
        </p:nvSpPr>
        <p:spPr>
          <a:xfrm>
            <a:off x="4510833" y="4373807"/>
            <a:ext cx="124311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306" name="tx306"/>
          <p:cNvSpPr/>
          <p:nvPr/>
        </p:nvSpPr>
        <p:spPr>
          <a:xfrm>
            <a:off x="4927644" y="43738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307" name="tx307"/>
          <p:cNvSpPr/>
          <p:nvPr/>
        </p:nvSpPr>
        <p:spPr>
          <a:xfrm>
            <a:off x="5344455" y="4373861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308" name="tx308"/>
          <p:cNvSpPr/>
          <p:nvPr/>
        </p:nvSpPr>
        <p:spPr>
          <a:xfrm>
            <a:off x="4092902" y="4493474"/>
            <a:ext cx="1793794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Observed Age at Conversion</a:t>
            </a:r>
          </a:p>
        </p:txBody>
      </p:sp>
      <p:sp>
        <p:nvSpPr>
          <p:cNvPr id="309" name="tx309"/>
          <p:cNvSpPr/>
          <p:nvPr/>
        </p:nvSpPr>
        <p:spPr>
          <a:xfrm rot="16200000">
            <a:off x="2996306" y="3920504"/>
            <a:ext cx="1778310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Predicted Age </a:t>
            </a:r>
            <a:endParaRPr lang="en-US" sz="11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at Conversion</a:t>
            </a:r>
          </a:p>
        </p:txBody>
      </p:sp>
      <p:sp>
        <p:nvSpPr>
          <p:cNvPr id="313" name="pl313"/>
          <p:cNvSpPr/>
          <p:nvPr/>
        </p:nvSpPr>
        <p:spPr>
          <a:xfrm>
            <a:off x="3650224" y="4428206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4" name="pl314"/>
          <p:cNvSpPr/>
          <p:nvPr/>
        </p:nvSpPr>
        <p:spPr>
          <a:xfrm>
            <a:off x="3991981" y="4428206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5" name="pl315"/>
          <p:cNvSpPr/>
          <p:nvPr/>
        </p:nvSpPr>
        <p:spPr>
          <a:xfrm>
            <a:off x="4333738" y="4428206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6" name="pl316"/>
          <p:cNvSpPr/>
          <p:nvPr/>
        </p:nvSpPr>
        <p:spPr>
          <a:xfrm>
            <a:off x="3650224" y="464432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7" name="pl317"/>
          <p:cNvSpPr/>
          <p:nvPr/>
        </p:nvSpPr>
        <p:spPr>
          <a:xfrm>
            <a:off x="3991981" y="464432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pg128"/>
          <p:cNvSpPr/>
          <p:nvPr/>
        </p:nvSpPr>
        <p:spPr>
          <a:xfrm>
            <a:off x="2409825" y="2301170"/>
            <a:ext cx="1228202" cy="599964"/>
          </a:xfrm>
          <a:custGeom>
            <a:avLst/>
            <a:gdLst/>
            <a:ahLst/>
            <a:cxnLst/>
            <a:rect l="0" t="0" r="0" b="0"/>
            <a:pathLst>
              <a:path w="1228202" h="599964">
                <a:moveTo>
                  <a:pt x="0" y="235236"/>
                </a:moveTo>
                <a:lnTo>
                  <a:pt x="23619" y="233148"/>
                </a:lnTo>
                <a:lnTo>
                  <a:pt x="47238" y="230537"/>
                </a:lnTo>
                <a:lnTo>
                  <a:pt x="70857" y="226201"/>
                </a:lnTo>
                <a:lnTo>
                  <a:pt x="94477" y="220879"/>
                </a:lnTo>
                <a:lnTo>
                  <a:pt x="118096" y="216439"/>
                </a:lnTo>
                <a:lnTo>
                  <a:pt x="141715" y="211910"/>
                </a:lnTo>
                <a:lnTo>
                  <a:pt x="165334" y="206220"/>
                </a:lnTo>
                <a:lnTo>
                  <a:pt x="188954" y="204028"/>
                </a:lnTo>
                <a:lnTo>
                  <a:pt x="212573" y="199620"/>
                </a:lnTo>
                <a:lnTo>
                  <a:pt x="236192" y="195235"/>
                </a:lnTo>
                <a:lnTo>
                  <a:pt x="259812" y="193838"/>
                </a:lnTo>
                <a:lnTo>
                  <a:pt x="283431" y="191287"/>
                </a:lnTo>
                <a:lnTo>
                  <a:pt x="307050" y="188294"/>
                </a:lnTo>
                <a:lnTo>
                  <a:pt x="330669" y="183256"/>
                </a:lnTo>
                <a:lnTo>
                  <a:pt x="354289" y="176868"/>
                </a:lnTo>
                <a:lnTo>
                  <a:pt x="377908" y="171135"/>
                </a:lnTo>
                <a:lnTo>
                  <a:pt x="401527" y="166675"/>
                </a:lnTo>
                <a:lnTo>
                  <a:pt x="425146" y="161759"/>
                </a:lnTo>
                <a:lnTo>
                  <a:pt x="448766" y="158035"/>
                </a:lnTo>
                <a:lnTo>
                  <a:pt x="472385" y="154707"/>
                </a:lnTo>
                <a:lnTo>
                  <a:pt x="496004" y="149179"/>
                </a:lnTo>
                <a:lnTo>
                  <a:pt x="519624" y="142250"/>
                </a:lnTo>
                <a:lnTo>
                  <a:pt x="543243" y="136794"/>
                </a:lnTo>
                <a:lnTo>
                  <a:pt x="566862" y="134146"/>
                </a:lnTo>
                <a:lnTo>
                  <a:pt x="590481" y="128928"/>
                </a:lnTo>
                <a:lnTo>
                  <a:pt x="614101" y="124500"/>
                </a:lnTo>
                <a:lnTo>
                  <a:pt x="637720" y="116302"/>
                </a:lnTo>
                <a:lnTo>
                  <a:pt x="661339" y="111269"/>
                </a:lnTo>
                <a:lnTo>
                  <a:pt x="684958" y="103073"/>
                </a:lnTo>
                <a:lnTo>
                  <a:pt x="708578" y="93886"/>
                </a:lnTo>
                <a:lnTo>
                  <a:pt x="732197" y="83867"/>
                </a:lnTo>
                <a:lnTo>
                  <a:pt x="755816" y="80739"/>
                </a:lnTo>
                <a:lnTo>
                  <a:pt x="779436" y="74838"/>
                </a:lnTo>
                <a:lnTo>
                  <a:pt x="803055" y="69722"/>
                </a:lnTo>
                <a:lnTo>
                  <a:pt x="826674" y="62530"/>
                </a:lnTo>
                <a:lnTo>
                  <a:pt x="850293" y="56970"/>
                </a:lnTo>
                <a:lnTo>
                  <a:pt x="873913" y="49397"/>
                </a:lnTo>
                <a:lnTo>
                  <a:pt x="897532" y="44955"/>
                </a:lnTo>
                <a:lnTo>
                  <a:pt x="921151" y="39754"/>
                </a:lnTo>
                <a:lnTo>
                  <a:pt x="944771" y="34308"/>
                </a:lnTo>
                <a:lnTo>
                  <a:pt x="968390" y="32537"/>
                </a:lnTo>
                <a:lnTo>
                  <a:pt x="992009" y="27553"/>
                </a:lnTo>
                <a:lnTo>
                  <a:pt x="1015628" y="24200"/>
                </a:lnTo>
                <a:lnTo>
                  <a:pt x="1039248" y="19095"/>
                </a:lnTo>
                <a:lnTo>
                  <a:pt x="1062867" y="15194"/>
                </a:lnTo>
                <a:lnTo>
                  <a:pt x="1086486" y="13156"/>
                </a:lnTo>
                <a:lnTo>
                  <a:pt x="1110105" y="11684"/>
                </a:lnTo>
                <a:lnTo>
                  <a:pt x="1133725" y="7876"/>
                </a:lnTo>
                <a:lnTo>
                  <a:pt x="1157344" y="4672"/>
                </a:lnTo>
                <a:lnTo>
                  <a:pt x="1180963" y="2078"/>
                </a:lnTo>
                <a:lnTo>
                  <a:pt x="1204583" y="1287"/>
                </a:lnTo>
                <a:lnTo>
                  <a:pt x="1228202" y="0"/>
                </a:lnTo>
                <a:lnTo>
                  <a:pt x="1228202" y="515890"/>
                </a:lnTo>
                <a:lnTo>
                  <a:pt x="1204583" y="514282"/>
                </a:lnTo>
                <a:lnTo>
                  <a:pt x="1180963" y="513666"/>
                </a:lnTo>
                <a:lnTo>
                  <a:pt x="1157344" y="512009"/>
                </a:lnTo>
                <a:lnTo>
                  <a:pt x="1133725" y="511119"/>
                </a:lnTo>
                <a:lnTo>
                  <a:pt x="1110105" y="508927"/>
                </a:lnTo>
                <a:lnTo>
                  <a:pt x="1086486" y="504279"/>
                </a:lnTo>
                <a:lnTo>
                  <a:pt x="1062867" y="503109"/>
                </a:lnTo>
                <a:lnTo>
                  <a:pt x="1039248" y="500589"/>
                </a:lnTo>
                <a:lnTo>
                  <a:pt x="1015628" y="497877"/>
                </a:lnTo>
                <a:lnTo>
                  <a:pt x="992009" y="495957"/>
                </a:lnTo>
                <a:lnTo>
                  <a:pt x="968390" y="490974"/>
                </a:lnTo>
                <a:lnTo>
                  <a:pt x="944771" y="492248"/>
                </a:lnTo>
                <a:lnTo>
                  <a:pt x="921151" y="491428"/>
                </a:lnTo>
                <a:lnTo>
                  <a:pt x="897532" y="492397"/>
                </a:lnTo>
                <a:lnTo>
                  <a:pt x="873913" y="492988"/>
                </a:lnTo>
                <a:lnTo>
                  <a:pt x="850293" y="494636"/>
                </a:lnTo>
                <a:lnTo>
                  <a:pt x="826674" y="491687"/>
                </a:lnTo>
                <a:lnTo>
                  <a:pt x="803055" y="489318"/>
                </a:lnTo>
                <a:lnTo>
                  <a:pt x="779436" y="492831"/>
                </a:lnTo>
                <a:lnTo>
                  <a:pt x="755816" y="490539"/>
                </a:lnTo>
                <a:lnTo>
                  <a:pt x="732197" y="490945"/>
                </a:lnTo>
                <a:lnTo>
                  <a:pt x="708578" y="493354"/>
                </a:lnTo>
                <a:lnTo>
                  <a:pt x="684958" y="497056"/>
                </a:lnTo>
                <a:lnTo>
                  <a:pt x="661339" y="498180"/>
                </a:lnTo>
                <a:lnTo>
                  <a:pt x="637720" y="502872"/>
                </a:lnTo>
                <a:lnTo>
                  <a:pt x="614101" y="505596"/>
                </a:lnTo>
                <a:lnTo>
                  <a:pt x="590481" y="511003"/>
                </a:lnTo>
                <a:lnTo>
                  <a:pt x="566862" y="513619"/>
                </a:lnTo>
                <a:lnTo>
                  <a:pt x="543243" y="519365"/>
                </a:lnTo>
                <a:lnTo>
                  <a:pt x="519624" y="525165"/>
                </a:lnTo>
                <a:lnTo>
                  <a:pt x="496004" y="528625"/>
                </a:lnTo>
                <a:lnTo>
                  <a:pt x="472385" y="530452"/>
                </a:lnTo>
                <a:lnTo>
                  <a:pt x="448766" y="535360"/>
                </a:lnTo>
                <a:lnTo>
                  <a:pt x="425146" y="540007"/>
                </a:lnTo>
                <a:lnTo>
                  <a:pt x="401527" y="546585"/>
                </a:lnTo>
                <a:lnTo>
                  <a:pt x="377908" y="551671"/>
                </a:lnTo>
                <a:lnTo>
                  <a:pt x="354289" y="552851"/>
                </a:lnTo>
                <a:lnTo>
                  <a:pt x="330669" y="556590"/>
                </a:lnTo>
                <a:lnTo>
                  <a:pt x="307050" y="560498"/>
                </a:lnTo>
                <a:lnTo>
                  <a:pt x="283431" y="563652"/>
                </a:lnTo>
                <a:lnTo>
                  <a:pt x="259812" y="567685"/>
                </a:lnTo>
                <a:lnTo>
                  <a:pt x="236192" y="571297"/>
                </a:lnTo>
                <a:lnTo>
                  <a:pt x="212573" y="574652"/>
                </a:lnTo>
                <a:lnTo>
                  <a:pt x="188954" y="578456"/>
                </a:lnTo>
                <a:lnTo>
                  <a:pt x="165334" y="583476"/>
                </a:lnTo>
                <a:lnTo>
                  <a:pt x="141715" y="585711"/>
                </a:lnTo>
                <a:lnTo>
                  <a:pt x="118096" y="587855"/>
                </a:lnTo>
                <a:lnTo>
                  <a:pt x="94477" y="592133"/>
                </a:lnTo>
                <a:lnTo>
                  <a:pt x="70857" y="594761"/>
                </a:lnTo>
                <a:lnTo>
                  <a:pt x="47238" y="595789"/>
                </a:lnTo>
                <a:lnTo>
                  <a:pt x="23619" y="598185"/>
                </a:lnTo>
                <a:lnTo>
                  <a:pt x="0" y="599964"/>
                </a:lnTo>
                <a:close/>
              </a:path>
            </a:pathLst>
          </a:custGeom>
          <a:solidFill>
            <a:srgbClr val="EAE5F3"/>
          </a:solidFill>
        </p:spPr>
        <p:txBody>
          <a:bodyPr/>
          <a:lstStyle/>
          <a:p>
            <a:endParaRPr/>
          </a:p>
        </p:txBody>
      </p:sp>
      <p:sp>
        <p:nvSpPr>
          <p:cNvPr id="318" name="pl318"/>
          <p:cNvSpPr/>
          <p:nvPr/>
        </p:nvSpPr>
        <p:spPr>
          <a:xfrm>
            <a:off x="4333738" y="464432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g21"/>
          <p:cNvSpPr/>
          <p:nvPr/>
        </p:nvSpPr>
        <p:spPr>
          <a:xfrm>
            <a:off x="2483633" y="936199"/>
            <a:ext cx="1157344" cy="599964"/>
          </a:xfrm>
          <a:custGeom>
            <a:avLst/>
            <a:gdLst/>
            <a:ahLst/>
            <a:cxnLst/>
            <a:rect l="0" t="0" r="0" b="0"/>
            <a:pathLst>
              <a:path w="1157344" h="599964">
                <a:moveTo>
                  <a:pt x="0" y="586947"/>
                </a:moveTo>
                <a:lnTo>
                  <a:pt x="23619" y="583870"/>
                </a:lnTo>
                <a:lnTo>
                  <a:pt x="47238" y="578447"/>
                </a:lnTo>
                <a:lnTo>
                  <a:pt x="70857" y="573880"/>
                </a:lnTo>
                <a:lnTo>
                  <a:pt x="94477" y="570972"/>
                </a:lnTo>
                <a:lnTo>
                  <a:pt x="118096" y="568869"/>
                </a:lnTo>
                <a:lnTo>
                  <a:pt x="141715" y="561942"/>
                </a:lnTo>
                <a:lnTo>
                  <a:pt x="165334" y="559743"/>
                </a:lnTo>
                <a:lnTo>
                  <a:pt x="188954" y="552000"/>
                </a:lnTo>
                <a:lnTo>
                  <a:pt x="212573" y="553547"/>
                </a:lnTo>
                <a:lnTo>
                  <a:pt x="236192" y="544268"/>
                </a:lnTo>
                <a:lnTo>
                  <a:pt x="259812" y="534988"/>
                </a:lnTo>
                <a:lnTo>
                  <a:pt x="283431" y="528675"/>
                </a:lnTo>
                <a:lnTo>
                  <a:pt x="307050" y="520768"/>
                </a:lnTo>
                <a:lnTo>
                  <a:pt x="330669" y="508962"/>
                </a:lnTo>
                <a:lnTo>
                  <a:pt x="354289" y="501640"/>
                </a:lnTo>
                <a:lnTo>
                  <a:pt x="377908" y="495074"/>
                </a:lnTo>
                <a:lnTo>
                  <a:pt x="401527" y="484906"/>
                </a:lnTo>
                <a:lnTo>
                  <a:pt x="425146" y="475333"/>
                </a:lnTo>
                <a:lnTo>
                  <a:pt x="448766" y="464592"/>
                </a:lnTo>
                <a:lnTo>
                  <a:pt x="472385" y="455120"/>
                </a:lnTo>
                <a:lnTo>
                  <a:pt x="496004" y="440496"/>
                </a:lnTo>
                <a:lnTo>
                  <a:pt x="519624" y="432158"/>
                </a:lnTo>
                <a:lnTo>
                  <a:pt x="543243" y="416685"/>
                </a:lnTo>
                <a:lnTo>
                  <a:pt x="566862" y="406836"/>
                </a:lnTo>
                <a:lnTo>
                  <a:pt x="590481" y="395740"/>
                </a:lnTo>
                <a:lnTo>
                  <a:pt x="614101" y="371685"/>
                </a:lnTo>
                <a:lnTo>
                  <a:pt x="637720" y="352642"/>
                </a:lnTo>
                <a:lnTo>
                  <a:pt x="661339" y="346251"/>
                </a:lnTo>
                <a:lnTo>
                  <a:pt x="684958" y="339284"/>
                </a:lnTo>
                <a:lnTo>
                  <a:pt x="708578" y="328353"/>
                </a:lnTo>
                <a:lnTo>
                  <a:pt x="732197" y="317643"/>
                </a:lnTo>
                <a:lnTo>
                  <a:pt x="755816" y="295925"/>
                </a:lnTo>
                <a:lnTo>
                  <a:pt x="779436" y="290616"/>
                </a:lnTo>
                <a:lnTo>
                  <a:pt x="803055" y="270893"/>
                </a:lnTo>
                <a:lnTo>
                  <a:pt x="826674" y="257229"/>
                </a:lnTo>
                <a:lnTo>
                  <a:pt x="850293" y="236671"/>
                </a:lnTo>
                <a:lnTo>
                  <a:pt x="873913" y="222442"/>
                </a:lnTo>
                <a:lnTo>
                  <a:pt x="897532" y="214870"/>
                </a:lnTo>
                <a:lnTo>
                  <a:pt x="921151" y="200358"/>
                </a:lnTo>
                <a:lnTo>
                  <a:pt x="944771" y="183615"/>
                </a:lnTo>
                <a:lnTo>
                  <a:pt x="968390" y="165638"/>
                </a:lnTo>
                <a:lnTo>
                  <a:pt x="992009" y="140970"/>
                </a:lnTo>
                <a:lnTo>
                  <a:pt x="1015628" y="129142"/>
                </a:lnTo>
                <a:lnTo>
                  <a:pt x="1039248" y="109308"/>
                </a:lnTo>
                <a:lnTo>
                  <a:pt x="1062867" y="83905"/>
                </a:lnTo>
                <a:lnTo>
                  <a:pt x="1086486" y="67094"/>
                </a:lnTo>
                <a:lnTo>
                  <a:pt x="1110105" y="40357"/>
                </a:lnTo>
                <a:lnTo>
                  <a:pt x="1133725" y="16868"/>
                </a:lnTo>
                <a:lnTo>
                  <a:pt x="1157344" y="0"/>
                </a:lnTo>
                <a:lnTo>
                  <a:pt x="1157344" y="248668"/>
                </a:lnTo>
                <a:lnTo>
                  <a:pt x="1133725" y="261644"/>
                </a:lnTo>
                <a:lnTo>
                  <a:pt x="1110105" y="267612"/>
                </a:lnTo>
                <a:lnTo>
                  <a:pt x="1086486" y="270088"/>
                </a:lnTo>
                <a:lnTo>
                  <a:pt x="1062867" y="285058"/>
                </a:lnTo>
                <a:lnTo>
                  <a:pt x="1039248" y="290165"/>
                </a:lnTo>
                <a:lnTo>
                  <a:pt x="1015628" y="299750"/>
                </a:lnTo>
                <a:lnTo>
                  <a:pt x="992009" y="317788"/>
                </a:lnTo>
                <a:lnTo>
                  <a:pt x="968390" y="320961"/>
                </a:lnTo>
                <a:lnTo>
                  <a:pt x="944771" y="329956"/>
                </a:lnTo>
                <a:lnTo>
                  <a:pt x="921151" y="339054"/>
                </a:lnTo>
                <a:lnTo>
                  <a:pt x="897532" y="349325"/>
                </a:lnTo>
                <a:lnTo>
                  <a:pt x="873913" y="367147"/>
                </a:lnTo>
                <a:lnTo>
                  <a:pt x="850293" y="378053"/>
                </a:lnTo>
                <a:lnTo>
                  <a:pt x="826674" y="380445"/>
                </a:lnTo>
                <a:lnTo>
                  <a:pt x="803055" y="390570"/>
                </a:lnTo>
                <a:lnTo>
                  <a:pt x="779436" y="394364"/>
                </a:lnTo>
                <a:lnTo>
                  <a:pt x="755816" y="411585"/>
                </a:lnTo>
                <a:lnTo>
                  <a:pt x="732197" y="412185"/>
                </a:lnTo>
                <a:lnTo>
                  <a:pt x="708578" y="423799"/>
                </a:lnTo>
                <a:lnTo>
                  <a:pt x="684958" y="434265"/>
                </a:lnTo>
                <a:lnTo>
                  <a:pt x="661339" y="449211"/>
                </a:lnTo>
                <a:lnTo>
                  <a:pt x="637720" y="464292"/>
                </a:lnTo>
                <a:lnTo>
                  <a:pt x="614101" y="466621"/>
                </a:lnTo>
                <a:lnTo>
                  <a:pt x="590481" y="462872"/>
                </a:lnTo>
                <a:lnTo>
                  <a:pt x="566862" y="471333"/>
                </a:lnTo>
                <a:lnTo>
                  <a:pt x="543243" y="480558"/>
                </a:lnTo>
                <a:lnTo>
                  <a:pt x="519624" y="484235"/>
                </a:lnTo>
                <a:lnTo>
                  <a:pt x="496004" y="494893"/>
                </a:lnTo>
                <a:lnTo>
                  <a:pt x="472385" y="498162"/>
                </a:lnTo>
                <a:lnTo>
                  <a:pt x="448766" y="506352"/>
                </a:lnTo>
                <a:lnTo>
                  <a:pt x="425146" y="512740"/>
                </a:lnTo>
                <a:lnTo>
                  <a:pt x="401527" y="519445"/>
                </a:lnTo>
                <a:lnTo>
                  <a:pt x="377908" y="525009"/>
                </a:lnTo>
                <a:lnTo>
                  <a:pt x="354289" y="533804"/>
                </a:lnTo>
                <a:lnTo>
                  <a:pt x="330669" y="541231"/>
                </a:lnTo>
                <a:lnTo>
                  <a:pt x="307050" y="543294"/>
                </a:lnTo>
                <a:lnTo>
                  <a:pt x="283431" y="548403"/>
                </a:lnTo>
                <a:lnTo>
                  <a:pt x="259812" y="554466"/>
                </a:lnTo>
                <a:lnTo>
                  <a:pt x="236192" y="556816"/>
                </a:lnTo>
                <a:lnTo>
                  <a:pt x="212573" y="557883"/>
                </a:lnTo>
                <a:lnTo>
                  <a:pt x="188954" y="570593"/>
                </a:lnTo>
                <a:lnTo>
                  <a:pt x="165334" y="573238"/>
                </a:lnTo>
                <a:lnTo>
                  <a:pt x="141715" y="580362"/>
                </a:lnTo>
                <a:lnTo>
                  <a:pt x="118096" y="582186"/>
                </a:lnTo>
                <a:lnTo>
                  <a:pt x="94477" y="588134"/>
                </a:lnTo>
                <a:lnTo>
                  <a:pt x="70857" y="592919"/>
                </a:lnTo>
                <a:lnTo>
                  <a:pt x="47238" y="595476"/>
                </a:lnTo>
                <a:lnTo>
                  <a:pt x="23619" y="597159"/>
                </a:lnTo>
                <a:lnTo>
                  <a:pt x="0" y="599964"/>
                </a:lnTo>
                <a:close/>
              </a:path>
            </a:pathLst>
          </a:custGeom>
          <a:solidFill>
            <a:srgbClr val="84B6BE">
              <a:alpha val="29412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" name="pl127"/>
          <p:cNvSpPr/>
          <p:nvPr/>
        </p:nvSpPr>
        <p:spPr>
          <a:xfrm>
            <a:off x="2412775" y="2569146"/>
            <a:ext cx="1228202" cy="159815"/>
          </a:xfrm>
          <a:custGeom>
            <a:avLst/>
            <a:gdLst/>
            <a:ahLst/>
            <a:cxnLst/>
            <a:rect l="0" t="0" r="0" b="0"/>
            <a:pathLst>
              <a:path w="1228202" h="159815">
                <a:moveTo>
                  <a:pt x="0" y="159815"/>
                </a:moveTo>
                <a:lnTo>
                  <a:pt x="23619" y="157881"/>
                </a:lnTo>
                <a:lnTo>
                  <a:pt x="47238" y="155377"/>
                </a:lnTo>
                <a:lnTo>
                  <a:pt x="70857" y="152696"/>
                </a:lnTo>
                <a:lnTo>
                  <a:pt x="94477" y="148721"/>
                </a:lnTo>
                <a:lnTo>
                  <a:pt x="118096" y="144362"/>
                </a:lnTo>
                <a:lnTo>
                  <a:pt x="141715" y="141025"/>
                </a:lnTo>
                <a:lnTo>
                  <a:pt x="165334" y="137063"/>
                </a:lnTo>
                <a:lnTo>
                  <a:pt x="188954" y="133457"/>
                </a:lnTo>
                <a:lnTo>
                  <a:pt x="212573" y="129351"/>
                </a:lnTo>
                <a:lnTo>
                  <a:pt x="236192" y="125481"/>
                </a:lnTo>
                <a:lnTo>
                  <a:pt x="259812" y="122977"/>
                </a:lnTo>
                <a:lnTo>
                  <a:pt x="283431" y="119684"/>
                </a:lnTo>
                <a:lnTo>
                  <a:pt x="307050" y="116611"/>
                </a:lnTo>
                <a:lnTo>
                  <a:pt x="330669" y="112138"/>
                </a:lnTo>
                <a:lnTo>
                  <a:pt x="354289" y="107074"/>
                </a:lnTo>
                <a:lnTo>
                  <a:pt x="377908" y="103617"/>
                </a:lnTo>
                <a:lnTo>
                  <a:pt x="401527" y="98845"/>
                </a:lnTo>
                <a:lnTo>
                  <a:pt x="425146" y="93098"/>
                </a:lnTo>
                <a:lnTo>
                  <a:pt x="448766" y="88912"/>
                </a:lnTo>
                <a:lnTo>
                  <a:pt x="472385" y="84794"/>
                </a:lnTo>
                <a:lnTo>
                  <a:pt x="496004" y="81117"/>
                </a:lnTo>
                <a:lnTo>
                  <a:pt x="519624" y="75922"/>
                </a:lnTo>
                <a:lnTo>
                  <a:pt x="543243" y="70294"/>
                </a:lnTo>
                <a:lnTo>
                  <a:pt x="566862" y="66097"/>
                </a:lnTo>
                <a:lnTo>
                  <a:pt x="590481" y="62180"/>
                </a:lnTo>
                <a:lnTo>
                  <a:pt x="614101" y="57263"/>
                </a:lnTo>
                <a:lnTo>
                  <a:pt x="637720" y="51802"/>
                </a:lnTo>
                <a:lnTo>
                  <a:pt x="661339" y="46939"/>
                </a:lnTo>
                <a:lnTo>
                  <a:pt x="684958" y="42279"/>
                </a:lnTo>
                <a:lnTo>
                  <a:pt x="708578" y="35835"/>
                </a:lnTo>
                <a:lnTo>
                  <a:pt x="732197" y="29621"/>
                </a:lnTo>
                <a:lnTo>
                  <a:pt x="755816" y="27854"/>
                </a:lnTo>
                <a:lnTo>
                  <a:pt x="779436" y="26049"/>
                </a:lnTo>
                <a:lnTo>
                  <a:pt x="803055" y="21735"/>
                </a:lnTo>
                <a:lnTo>
                  <a:pt x="826674" y="19323"/>
                </a:lnTo>
                <a:lnTo>
                  <a:pt x="850293" y="18018"/>
                </a:lnTo>
                <a:lnTo>
                  <a:pt x="873913" y="13407"/>
                </a:lnTo>
                <a:lnTo>
                  <a:pt x="897532" y="10891"/>
                </a:lnTo>
                <a:lnTo>
                  <a:pt x="921151" y="7806"/>
                </a:lnTo>
                <a:lnTo>
                  <a:pt x="944771" y="5493"/>
                </a:lnTo>
                <a:lnTo>
                  <a:pt x="968390" y="3970"/>
                </a:lnTo>
                <a:lnTo>
                  <a:pt x="992009" y="3970"/>
                </a:lnTo>
                <a:lnTo>
                  <a:pt x="1015628" y="3253"/>
                </a:lnTo>
                <a:lnTo>
                  <a:pt x="1039248" y="2057"/>
                </a:lnTo>
                <a:lnTo>
                  <a:pt x="1062867" y="1366"/>
                </a:lnTo>
                <a:lnTo>
                  <a:pt x="1086486" y="933"/>
                </a:lnTo>
                <a:lnTo>
                  <a:pt x="1110105" y="2521"/>
                </a:lnTo>
                <a:lnTo>
                  <a:pt x="1133725" y="1713"/>
                </a:lnTo>
                <a:lnTo>
                  <a:pt x="1157344" y="555"/>
                </a:lnTo>
                <a:lnTo>
                  <a:pt x="1180963" y="87"/>
                </a:lnTo>
                <a:lnTo>
                  <a:pt x="1204583" y="0"/>
                </a:lnTo>
                <a:lnTo>
                  <a:pt x="1228202" y="159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3" name="pl213"/>
          <p:cNvSpPr/>
          <p:nvPr/>
        </p:nvSpPr>
        <p:spPr>
          <a:xfrm>
            <a:off x="2814303" y="3931387"/>
            <a:ext cx="826674" cy="190831"/>
          </a:xfrm>
          <a:custGeom>
            <a:avLst/>
            <a:gdLst/>
            <a:ahLst/>
            <a:cxnLst/>
            <a:rect l="0" t="0" r="0" b="0"/>
            <a:pathLst>
              <a:path w="826674" h="190831">
                <a:moveTo>
                  <a:pt x="0" y="190831"/>
                </a:moveTo>
                <a:lnTo>
                  <a:pt x="23619" y="187532"/>
                </a:lnTo>
                <a:lnTo>
                  <a:pt x="47238" y="184682"/>
                </a:lnTo>
                <a:lnTo>
                  <a:pt x="70857" y="181569"/>
                </a:lnTo>
                <a:lnTo>
                  <a:pt x="94477" y="177335"/>
                </a:lnTo>
                <a:lnTo>
                  <a:pt x="118096" y="173505"/>
                </a:lnTo>
                <a:lnTo>
                  <a:pt x="141715" y="169452"/>
                </a:lnTo>
                <a:lnTo>
                  <a:pt x="165334" y="165743"/>
                </a:lnTo>
                <a:lnTo>
                  <a:pt x="188954" y="160854"/>
                </a:lnTo>
                <a:lnTo>
                  <a:pt x="212573" y="156065"/>
                </a:lnTo>
                <a:lnTo>
                  <a:pt x="236192" y="151284"/>
                </a:lnTo>
                <a:lnTo>
                  <a:pt x="259812" y="147498"/>
                </a:lnTo>
                <a:lnTo>
                  <a:pt x="283431" y="142296"/>
                </a:lnTo>
                <a:lnTo>
                  <a:pt x="307050" y="136599"/>
                </a:lnTo>
                <a:lnTo>
                  <a:pt x="330669" y="131067"/>
                </a:lnTo>
                <a:lnTo>
                  <a:pt x="354289" y="125067"/>
                </a:lnTo>
                <a:lnTo>
                  <a:pt x="377908" y="118309"/>
                </a:lnTo>
                <a:lnTo>
                  <a:pt x="401527" y="111966"/>
                </a:lnTo>
                <a:lnTo>
                  <a:pt x="425146" y="104104"/>
                </a:lnTo>
                <a:lnTo>
                  <a:pt x="448766" y="98693"/>
                </a:lnTo>
                <a:lnTo>
                  <a:pt x="472385" y="92814"/>
                </a:lnTo>
                <a:lnTo>
                  <a:pt x="496004" y="84970"/>
                </a:lnTo>
                <a:lnTo>
                  <a:pt x="519624" y="81701"/>
                </a:lnTo>
                <a:lnTo>
                  <a:pt x="543243" y="75708"/>
                </a:lnTo>
                <a:lnTo>
                  <a:pt x="566862" y="69370"/>
                </a:lnTo>
                <a:lnTo>
                  <a:pt x="590481" y="65072"/>
                </a:lnTo>
                <a:lnTo>
                  <a:pt x="614101" y="59578"/>
                </a:lnTo>
                <a:lnTo>
                  <a:pt x="637720" y="51221"/>
                </a:lnTo>
                <a:lnTo>
                  <a:pt x="661339" y="44898"/>
                </a:lnTo>
                <a:lnTo>
                  <a:pt x="684958" y="36138"/>
                </a:lnTo>
                <a:lnTo>
                  <a:pt x="708578" y="29486"/>
                </a:lnTo>
                <a:lnTo>
                  <a:pt x="732197" y="22072"/>
                </a:lnTo>
                <a:lnTo>
                  <a:pt x="755816" y="16080"/>
                </a:lnTo>
                <a:lnTo>
                  <a:pt x="779436" y="7595"/>
                </a:lnTo>
                <a:lnTo>
                  <a:pt x="803055" y="6474"/>
                </a:lnTo>
                <a:lnTo>
                  <a:pt x="82667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2D16D7F-E9C4-4D3E-8BCC-1935CAB47931}"/>
              </a:ext>
            </a:extLst>
          </p:cNvPr>
          <p:cNvSpPr txBox="1"/>
          <p:nvPr/>
        </p:nvSpPr>
        <p:spPr>
          <a:xfrm>
            <a:off x="1363700" y="555832"/>
            <a:ext cx="655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A. Amyloid PET MAE = 1.64 years, RMSE = 2.34 years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577AA6C5-BAD2-F95B-5DB5-DED6F096D791}"/>
              </a:ext>
            </a:extLst>
          </p:cNvPr>
          <p:cNvSpPr txBox="1"/>
          <p:nvPr/>
        </p:nvSpPr>
        <p:spPr>
          <a:xfrm>
            <a:off x="1343025" y="1929476"/>
            <a:ext cx="655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B. CSF pT181 [IP-MS] MAE = 4.80 years, RMSE = 5.88 years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EC2A3D81-F2F2-F93D-56F9-54A0B9EA075A}"/>
              </a:ext>
            </a:extLst>
          </p:cNvPr>
          <p:cNvSpPr txBox="1"/>
          <p:nvPr/>
        </p:nvSpPr>
        <p:spPr>
          <a:xfrm>
            <a:off x="1343025" y="3314156"/>
            <a:ext cx="655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C. Plasma pT181 [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Simoa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] MAE = 6.58 years, RMSE = 8.14 years</a:t>
            </a:r>
          </a:p>
        </p:txBody>
      </p:sp>
      <p:sp>
        <p:nvSpPr>
          <p:cNvPr id="370" name="tx233">
            <a:extLst>
              <a:ext uri="{FF2B5EF4-FFF2-40B4-BE49-F238E27FC236}">
                <a16:creationId xmlns:a16="http://schemas.microsoft.com/office/drawing/2014/main" id="{DE284CD0-D7F6-5A16-DE61-8F631CAFBCBD}"/>
              </a:ext>
            </a:extLst>
          </p:cNvPr>
          <p:cNvSpPr/>
          <p:nvPr/>
        </p:nvSpPr>
        <p:spPr>
          <a:xfrm rot="16200000">
            <a:off x="941771" y="2478910"/>
            <a:ext cx="1715895" cy="1281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371" name="tx233">
            <a:extLst>
              <a:ext uri="{FF2B5EF4-FFF2-40B4-BE49-F238E27FC236}">
                <a16:creationId xmlns:a16="http://schemas.microsoft.com/office/drawing/2014/main" id="{5584C69F-04CD-5104-B14B-9056FD6ABC4C}"/>
              </a:ext>
            </a:extLst>
          </p:cNvPr>
          <p:cNvSpPr/>
          <p:nvPr/>
        </p:nvSpPr>
        <p:spPr>
          <a:xfrm rot="16200000">
            <a:off x="941772" y="1285526"/>
            <a:ext cx="1715895" cy="1281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2573</TotalTime>
  <Words>131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12</cp:revision>
  <dcterms:created xsi:type="dcterms:W3CDTF">2015-07-14T21:05:00Z</dcterms:created>
  <dcterms:modified xsi:type="dcterms:W3CDTF">2026-02-19T16:36:24Z</dcterms:modified>
</cp:coreProperties>
</file>