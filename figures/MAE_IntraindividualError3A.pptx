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7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9" d="100"/>
          <a:sy n="59" d="100"/>
        </p:scale>
        <p:origin x="438" y="66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c3"/>
          <p:cNvSpPr/>
          <p:nvPr/>
        </p:nvSpPr>
        <p:spPr>
          <a:xfrm>
            <a:off x="1234281" y="1952625"/>
            <a:ext cx="8229600" cy="36576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" name="rc4"/>
          <p:cNvSpPr/>
          <p:nvPr/>
        </p:nvSpPr>
        <p:spPr>
          <a:xfrm>
            <a:off x="1234281" y="1952625"/>
            <a:ext cx="8229600" cy="3657600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" name="rc5"/>
          <p:cNvSpPr/>
          <p:nvPr/>
        </p:nvSpPr>
        <p:spPr>
          <a:xfrm>
            <a:off x="1303870" y="2022214"/>
            <a:ext cx="2696807" cy="3518421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" name="rc6"/>
          <p:cNvSpPr/>
          <p:nvPr/>
        </p:nvSpPr>
        <p:spPr>
          <a:xfrm>
            <a:off x="1785209" y="2091803"/>
            <a:ext cx="2145879" cy="3024644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" name="pl7"/>
          <p:cNvSpPr/>
          <p:nvPr/>
        </p:nvSpPr>
        <p:spPr>
          <a:xfrm>
            <a:off x="1785209" y="3512469"/>
            <a:ext cx="2145879" cy="0"/>
          </a:xfrm>
          <a:custGeom>
            <a:avLst/>
            <a:gdLst/>
            <a:ahLst/>
            <a:cxnLst/>
            <a:rect l="0" t="0" r="0" b="0"/>
            <a:pathLst>
              <a:path w="2145879">
                <a:moveTo>
                  <a:pt x="0" y="0"/>
                </a:moveTo>
                <a:lnTo>
                  <a:pt x="2145879" y="0"/>
                </a:lnTo>
                <a:lnTo>
                  <a:pt x="2145879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8" name="pg8"/>
          <p:cNvSpPr/>
          <p:nvPr/>
        </p:nvSpPr>
        <p:spPr>
          <a:xfrm>
            <a:off x="1882749" y="2503553"/>
            <a:ext cx="1950799" cy="1943976"/>
          </a:xfrm>
          <a:custGeom>
            <a:avLst/>
            <a:gdLst/>
            <a:ahLst/>
            <a:cxnLst/>
            <a:rect l="0" t="0" r="0" b="0"/>
            <a:pathLst>
              <a:path w="1950799" h="1943976">
                <a:moveTo>
                  <a:pt x="0" y="844867"/>
                </a:moveTo>
                <a:lnTo>
                  <a:pt x="292619" y="900630"/>
                </a:lnTo>
                <a:lnTo>
                  <a:pt x="682779" y="570507"/>
                </a:lnTo>
                <a:lnTo>
                  <a:pt x="975399" y="897730"/>
                </a:lnTo>
                <a:lnTo>
                  <a:pt x="1463099" y="517414"/>
                </a:lnTo>
                <a:lnTo>
                  <a:pt x="1950799" y="0"/>
                </a:lnTo>
                <a:lnTo>
                  <a:pt x="1950799" y="1943976"/>
                </a:lnTo>
                <a:lnTo>
                  <a:pt x="1463099" y="1452321"/>
                </a:lnTo>
                <a:lnTo>
                  <a:pt x="975399" y="1075860"/>
                </a:lnTo>
                <a:lnTo>
                  <a:pt x="682779" y="1411029"/>
                </a:lnTo>
                <a:lnTo>
                  <a:pt x="292619" y="1087520"/>
                </a:lnTo>
                <a:lnTo>
                  <a:pt x="0" y="1012842"/>
                </a:lnTo>
                <a:close/>
              </a:path>
            </a:pathLst>
          </a:custGeom>
          <a:solidFill>
            <a:srgbClr val="00BFC4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" name="pl9"/>
          <p:cNvSpPr/>
          <p:nvPr/>
        </p:nvSpPr>
        <p:spPr>
          <a:xfrm>
            <a:off x="1882749" y="2503553"/>
            <a:ext cx="1950799" cy="900630"/>
          </a:xfrm>
          <a:custGeom>
            <a:avLst/>
            <a:gdLst/>
            <a:ahLst/>
            <a:cxnLst/>
            <a:rect l="0" t="0" r="0" b="0"/>
            <a:pathLst>
              <a:path w="1950799" h="900630">
                <a:moveTo>
                  <a:pt x="0" y="844867"/>
                </a:moveTo>
                <a:lnTo>
                  <a:pt x="292619" y="900630"/>
                </a:lnTo>
                <a:lnTo>
                  <a:pt x="682779" y="570507"/>
                </a:lnTo>
                <a:lnTo>
                  <a:pt x="975399" y="897730"/>
                </a:lnTo>
                <a:lnTo>
                  <a:pt x="1463099" y="517414"/>
                </a:lnTo>
                <a:lnTo>
                  <a:pt x="1950799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0" name="pl10"/>
          <p:cNvSpPr/>
          <p:nvPr/>
        </p:nvSpPr>
        <p:spPr>
          <a:xfrm>
            <a:off x="1882749" y="3516396"/>
            <a:ext cx="1950799" cy="931133"/>
          </a:xfrm>
          <a:custGeom>
            <a:avLst/>
            <a:gdLst/>
            <a:ahLst/>
            <a:cxnLst/>
            <a:rect l="0" t="0" r="0" b="0"/>
            <a:pathLst>
              <a:path w="1950799" h="931133">
                <a:moveTo>
                  <a:pt x="1950799" y="931133"/>
                </a:moveTo>
                <a:lnTo>
                  <a:pt x="1463099" y="439478"/>
                </a:lnTo>
                <a:lnTo>
                  <a:pt x="975399" y="63017"/>
                </a:lnTo>
                <a:lnTo>
                  <a:pt x="682779" y="398186"/>
                </a:lnTo>
                <a:lnTo>
                  <a:pt x="292619" y="74678"/>
                </a:lnTo>
                <a:lnTo>
                  <a:pt x="0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1" name="pl11"/>
          <p:cNvSpPr/>
          <p:nvPr/>
        </p:nvSpPr>
        <p:spPr>
          <a:xfrm>
            <a:off x="1882749" y="3475541"/>
            <a:ext cx="1950799" cy="22087"/>
          </a:xfrm>
          <a:custGeom>
            <a:avLst/>
            <a:gdLst/>
            <a:ahLst/>
            <a:cxnLst/>
            <a:rect l="0" t="0" r="0" b="0"/>
            <a:pathLst>
              <a:path w="1950799" h="22087">
                <a:moveTo>
                  <a:pt x="0" y="17285"/>
                </a:moveTo>
                <a:lnTo>
                  <a:pt x="292619" y="22087"/>
                </a:lnTo>
                <a:lnTo>
                  <a:pt x="682779" y="18780"/>
                </a:lnTo>
                <a:lnTo>
                  <a:pt x="975399" y="14807"/>
                </a:lnTo>
                <a:lnTo>
                  <a:pt x="1463099" y="12879"/>
                </a:lnTo>
                <a:lnTo>
                  <a:pt x="1950799" y="0"/>
                </a:lnTo>
              </a:path>
            </a:pathLst>
          </a:custGeom>
          <a:ln w="32521" cap="flat">
            <a:solidFill>
              <a:srgbClr val="007B8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" name="pl12"/>
          <p:cNvSpPr/>
          <p:nvPr/>
        </p:nvSpPr>
        <p:spPr>
          <a:xfrm>
            <a:off x="2858149" y="2091803"/>
            <a:ext cx="0" cy="3024644"/>
          </a:xfrm>
          <a:custGeom>
            <a:avLst/>
            <a:gdLst/>
            <a:ahLst/>
            <a:cxnLst/>
            <a:rect l="0" t="0" r="0" b="0"/>
            <a:pathLst>
              <a:path h="3024644">
                <a:moveTo>
                  <a:pt x="0" y="3024644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dot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" name="pl13"/>
          <p:cNvSpPr/>
          <p:nvPr/>
        </p:nvSpPr>
        <p:spPr>
          <a:xfrm>
            <a:off x="1785209" y="2091803"/>
            <a:ext cx="0" cy="3024644"/>
          </a:xfrm>
          <a:custGeom>
            <a:avLst/>
            <a:gdLst/>
            <a:ahLst/>
            <a:cxnLst/>
            <a:rect l="0" t="0" r="0" b="0"/>
            <a:pathLst>
              <a:path h="3024644">
                <a:moveTo>
                  <a:pt x="0" y="3024644"/>
                </a:moveTo>
                <a:lnTo>
                  <a:pt x="0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" name="tx14"/>
          <p:cNvSpPr/>
          <p:nvPr/>
        </p:nvSpPr>
        <p:spPr>
          <a:xfrm>
            <a:off x="1561050" y="4478992"/>
            <a:ext cx="161528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-20</a:t>
            </a:r>
          </a:p>
        </p:txBody>
      </p:sp>
      <p:sp>
        <p:nvSpPr>
          <p:cNvPr id="15" name="tx15"/>
          <p:cNvSpPr/>
          <p:nvPr/>
        </p:nvSpPr>
        <p:spPr>
          <a:xfrm>
            <a:off x="1660423" y="3562433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6" name="tx16"/>
          <p:cNvSpPr/>
          <p:nvPr/>
        </p:nvSpPr>
        <p:spPr>
          <a:xfrm>
            <a:off x="1598267" y="2645874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17" name="pl17"/>
          <p:cNvSpPr/>
          <p:nvPr/>
        </p:nvSpPr>
        <p:spPr>
          <a:xfrm>
            <a:off x="1750414" y="4520684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" name="pl18"/>
          <p:cNvSpPr/>
          <p:nvPr/>
        </p:nvSpPr>
        <p:spPr>
          <a:xfrm>
            <a:off x="1750414" y="3604125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" name="pl19"/>
          <p:cNvSpPr/>
          <p:nvPr/>
        </p:nvSpPr>
        <p:spPr>
          <a:xfrm>
            <a:off x="1750414" y="2687566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" name="pl20"/>
          <p:cNvSpPr/>
          <p:nvPr/>
        </p:nvSpPr>
        <p:spPr>
          <a:xfrm>
            <a:off x="1785209" y="5116447"/>
            <a:ext cx="2145879" cy="0"/>
          </a:xfrm>
          <a:custGeom>
            <a:avLst/>
            <a:gdLst/>
            <a:ahLst/>
            <a:cxnLst/>
            <a:rect l="0" t="0" r="0" b="0"/>
            <a:pathLst>
              <a:path w="2145879">
                <a:moveTo>
                  <a:pt x="0" y="0"/>
                </a:moveTo>
                <a:lnTo>
                  <a:pt x="2145879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" name="pl21"/>
          <p:cNvSpPr/>
          <p:nvPr/>
        </p:nvSpPr>
        <p:spPr>
          <a:xfrm>
            <a:off x="1882749" y="5116447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" name="pl22"/>
          <p:cNvSpPr/>
          <p:nvPr/>
        </p:nvSpPr>
        <p:spPr>
          <a:xfrm>
            <a:off x="2370449" y="5116447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" name="pl23"/>
          <p:cNvSpPr/>
          <p:nvPr/>
        </p:nvSpPr>
        <p:spPr>
          <a:xfrm>
            <a:off x="2858149" y="5116447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" name="pl24"/>
          <p:cNvSpPr/>
          <p:nvPr/>
        </p:nvSpPr>
        <p:spPr>
          <a:xfrm>
            <a:off x="3345848" y="5116447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" name="pl25"/>
          <p:cNvSpPr/>
          <p:nvPr/>
        </p:nvSpPr>
        <p:spPr>
          <a:xfrm>
            <a:off x="3833548" y="5116447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" name="tx26"/>
          <p:cNvSpPr/>
          <p:nvPr/>
        </p:nvSpPr>
        <p:spPr>
          <a:xfrm>
            <a:off x="1773990" y="5177385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0.00</a:t>
            </a:r>
          </a:p>
        </p:txBody>
      </p:sp>
      <p:sp>
        <p:nvSpPr>
          <p:cNvPr id="27" name="tx27"/>
          <p:cNvSpPr/>
          <p:nvPr/>
        </p:nvSpPr>
        <p:spPr>
          <a:xfrm>
            <a:off x="2261690" y="5177385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0.05</a:t>
            </a:r>
          </a:p>
        </p:txBody>
      </p:sp>
      <p:sp>
        <p:nvSpPr>
          <p:cNvPr id="28" name="tx28"/>
          <p:cNvSpPr/>
          <p:nvPr/>
        </p:nvSpPr>
        <p:spPr>
          <a:xfrm>
            <a:off x="2749390" y="5177385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0.10</a:t>
            </a:r>
          </a:p>
        </p:txBody>
      </p:sp>
      <p:sp>
        <p:nvSpPr>
          <p:cNvPr id="29" name="tx29"/>
          <p:cNvSpPr/>
          <p:nvPr/>
        </p:nvSpPr>
        <p:spPr>
          <a:xfrm>
            <a:off x="3237090" y="5177385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0.15</a:t>
            </a:r>
          </a:p>
        </p:txBody>
      </p:sp>
      <p:sp>
        <p:nvSpPr>
          <p:cNvPr id="30" name="tx30"/>
          <p:cNvSpPr/>
          <p:nvPr/>
        </p:nvSpPr>
        <p:spPr>
          <a:xfrm>
            <a:off x="3724790" y="5177385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0.20</a:t>
            </a:r>
          </a:p>
        </p:txBody>
      </p:sp>
      <p:sp>
        <p:nvSpPr>
          <p:cNvPr id="31" name="tx31"/>
          <p:cNvSpPr/>
          <p:nvPr/>
        </p:nvSpPr>
        <p:spPr>
          <a:xfrm>
            <a:off x="2225372" y="5326534"/>
            <a:ext cx="1265553" cy="10163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Intra-Individual Error</a:t>
            </a:r>
          </a:p>
        </p:txBody>
      </p:sp>
      <p:sp>
        <p:nvSpPr>
          <p:cNvPr id="32" name="tx32"/>
          <p:cNvSpPr/>
          <p:nvPr/>
        </p:nvSpPr>
        <p:spPr>
          <a:xfrm rot="16200000">
            <a:off x="1019809" y="3538572"/>
            <a:ext cx="776194" cy="1311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MAE (years)</a:t>
            </a:r>
          </a:p>
        </p:txBody>
      </p:sp>
      <p:sp>
        <p:nvSpPr>
          <p:cNvPr id="33" name="rc33"/>
          <p:cNvSpPr/>
          <p:nvPr/>
        </p:nvSpPr>
        <p:spPr>
          <a:xfrm>
            <a:off x="1919032" y="4111869"/>
            <a:ext cx="429175" cy="907393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007B8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" name="rc34"/>
          <p:cNvSpPr/>
          <p:nvPr/>
        </p:nvSpPr>
        <p:spPr>
          <a:xfrm>
            <a:off x="2084361" y="4168806"/>
            <a:ext cx="206910" cy="647027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" name="pl35"/>
          <p:cNvSpPr/>
          <p:nvPr/>
        </p:nvSpPr>
        <p:spPr>
          <a:xfrm>
            <a:off x="2084361" y="4590354"/>
            <a:ext cx="206910" cy="0"/>
          </a:xfrm>
          <a:custGeom>
            <a:avLst/>
            <a:gdLst/>
            <a:ahLst/>
            <a:cxnLst/>
            <a:rect l="0" t="0" r="0" b="0"/>
            <a:pathLst>
              <a:path w="206910">
                <a:moveTo>
                  <a:pt x="0" y="0"/>
                </a:moveTo>
                <a:lnTo>
                  <a:pt x="206910" y="0"/>
                </a:lnTo>
                <a:lnTo>
                  <a:pt x="206910" y="0"/>
                </a:lnTo>
              </a:path>
            </a:pathLst>
          </a:custGeom>
          <a:ln w="11086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" name="pl36"/>
          <p:cNvSpPr/>
          <p:nvPr/>
        </p:nvSpPr>
        <p:spPr>
          <a:xfrm>
            <a:off x="2093766" y="4239425"/>
            <a:ext cx="188100" cy="0"/>
          </a:xfrm>
          <a:custGeom>
            <a:avLst/>
            <a:gdLst/>
            <a:ahLst/>
            <a:cxnLst/>
            <a:rect l="0" t="0" r="0" b="0"/>
            <a:pathLst>
              <a:path w="188100">
                <a:moveTo>
                  <a:pt x="0" y="0"/>
                </a:moveTo>
                <a:lnTo>
                  <a:pt x="188100" y="0"/>
                </a:lnTo>
              </a:path>
            </a:pathLst>
          </a:custGeom>
          <a:ln w="11086" cap="flat">
            <a:solidFill>
              <a:srgbClr val="000000">
                <a:alpha val="4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" name="pl37"/>
          <p:cNvSpPr/>
          <p:nvPr/>
        </p:nvSpPr>
        <p:spPr>
          <a:xfrm>
            <a:off x="2187816" y="4239425"/>
            <a:ext cx="0" cy="359329"/>
          </a:xfrm>
          <a:custGeom>
            <a:avLst/>
            <a:gdLst/>
            <a:ahLst/>
            <a:cxnLst/>
            <a:rect l="0" t="0" r="0" b="0"/>
            <a:pathLst>
              <a:path h="359329">
                <a:moveTo>
                  <a:pt x="0" y="0"/>
                </a:moveTo>
                <a:lnTo>
                  <a:pt x="0" y="359329"/>
                </a:lnTo>
              </a:path>
            </a:pathLst>
          </a:custGeom>
          <a:ln w="11086" cap="flat">
            <a:solidFill>
              <a:srgbClr val="000000">
                <a:alpha val="4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" name="pl38"/>
          <p:cNvSpPr/>
          <p:nvPr/>
        </p:nvSpPr>
        <p:spPr>
          <a:xfrm>
            <a:off x="2093766" y="4598755"/>
            <a:ext cx="188100" cy="0"/>
          </a:xfrm>
          <a:custGeom>
            <a:avLst/>
            <a:gdLst/>
            <a:ahLst/>
            <a:cxnLst/>
            <a:rect l="0" t="0" r="0" b="0"/>
            <a:pathLst>
              <a:path w="188100">
                <a:moveTo>
                  <a:pt x="0" y="0"/>
                </a:moveTo>
                <a:lnTo>
                  <a:pt x="188100" y="0"/>
                </a:lnTo>
              </a:path>
            </a:pathLst>
          </a:custGeom>
          <a:ln w="11086" cap="flat">
            <a:solidFill>
              <a:srgbClr val="000000">
                <a:alpha val="4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" name="pt39"/>
          <p:cNvSpPr/>
          <p:nvPr/>
        </p:nvSpPr>
        <p:spPr>
          <a:xfrm>
            <a:off x="2167504" y="4528023"/>
            <a:ext cx="40624" cy="40624"/>
          </a:xfrm>
          <a:prstGeom prst="ellipse">
            <a:avLst/>
          </a:prstGeom>
          <a:solidFill>
            <a:srgbClr val="007B82">
              <a:alpha val="100000"/>
            </a:srgbClr>
          </a:solidFill>
          <a:ln w="7363" cap="rnd">
            <a:solidFill>
              <a:srgbClr val="007B8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0" name="pl40"/>
          <p:cNvSpPr/>
          <p:nvPr/>
        </p:nvSpPr>
        <p:spPr>
          <a:xfrm>
            <a:off x="2084361" y="4168806"/>
            <a:ext cx="0" cy="647027"/>
          </a:xfrm>
          <a:custGeom>
            <a:avLst/>
            <a:gdLst/>
            <a:ahLst/>
            <a:cxnLst/>
            <a:rect l="0" t="0" r="0" b="0"/>
            <a:pathLst>
              <a:path h="647027">
                <a:moveTo>
                  <a:pt x="0" y="647027"/>
                </a:moveTo>
                <a:lnTo>
                  <a:pt x="0" y="0"/>
                </a:lnTo>
              </a:path>
            </a:pathLst>
          </a:custGeom>
          <a:ln w="11086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" name="tx41"/>
          <p:cNvSpPr/>
          <p:nvPr/>
        </p:nvSpPr>
        <p:spPr>
          <a:xfrm>
            <a:off x="1982264" y="4752312"/>
            <a:ext cx="50854" cy="6683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42" name="tx42"/>
          <p:cNvSpPr/>
          <p:nvPr/>
        </p:nvSpPr>
        <p:spPr>
          <a:xfrm>
            <a:off x="1982264" y="4557359"/>
            <a:ext cx="50854" cy="657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43" name="tx43"/>
          <p:cNvSpPr/>
          <p:nvPr/>
        </p:nvSpPr>
        <p:spPr>
          <a:xfrm>
            <a:off x="1982264" y="4361558"/>
            <a:ext cx="50854" cy="6545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44" name="tx44"/>
          <p:cNvSpPr/>
          <p:nvPr/>
        </p:nvSpPr>
        <p:spPr>
          <a:xfrm>
            <a:off x="1982264" y="4164105"/>
            <a:ext cx="50854" cy="6683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45" name="pl45"/>
          <p:cNvSpPr/>
          <p:nvPr/>
        </p:nvSpPr>
        <p:spPr>
          <a:xfrm>
            <a:off x="2055893" y="4786423"/>
            <a:ext cx="28468" cy="0"/>
          </a:xfrm>
          <a:custGeom>
            <a:avLst/>
            <a:gdLst/>
            <a:ahLst/>
            <a:cxnLst/>
            <a:rect l="0" t="0" r="0" b="0"/>
            <a:pathLst>
              <a:path w="28468">
                <a:moveTo>
                  <a:pt x="0" y="0"/>
                </a:moveTo>
                <a:lnTo>
                  <a:pt x="28468" y="0"/>
                </a:lnTo>
              </a:path>
            </a:pathLst>
          </a:custGeom>
          <a:ln w="11086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" name="pl46"/>
          <p:cNvSpPr/>
          <p:nvPr/>
        </p:nvSpPr>
        <p:spPr>
          <a:xfrm>
            <a:off x="2055893" y="4590354"/>
            <a:ext cx="28468" cy="0"/>
          </a:xfrm>
          <a:custGeom>
            <a:avLst/>
            <a:gdLst/>
            <a:ahLst/>
            <a:cxnLst/>
            <a:rect l="0" t="0" r="0" b="0"/>
            <a:pathLst>
              <a:path w="28468">
                <a:moveTo>
                  <a:pt x="0" y="0"/>
                </a:moveTo>
                <a:lnTo>
                  <a:pt x="28468" y="0"/>
                </a:lnTo>
              </a:path>
            </a:pathLst>
          </a:custGeom>
          <a:ln w="11086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" name="pl47"/>
          <p:cNvSpPr/>
          <p:nvPr/>
        </p:nvSpPr>
        <p:spPr>
          <a:xfrm>
            <a:off x="2055893" y="4394285"/>
            <a:ext cx="28468" cy="0"/>
          </a:xfrm>
          <a:custGeom>
            <a:avLst/>
            <a:gdLst/>
            <a:ahLst/>
            <a:cxnLst/>
            <a:rect l="0" t="0" r="0" b="0"/>
            <a:pathLst>
              <a:path w="28468">
                <a:moveTo>
                  <a:pt x="0" y="0"/>
                </a:moveTo>
                <a:lnTo>
                  <a:pt x="28468" y="0"/>
                </a:lnTo>
              </a:path>
            </a:pathLst>
          </a:custGeom>
          <a:ln w="11086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" name="pl48"/>
          <p:cNvSpPr/>
          <p:nvPr/>
        </p:nvSpPr>
        <p:spPr>
          <a:xfrm>
            <a:off x="2055893" y="4198216"/>
            <a:ext cx="28468" cy="0"/>
          </a:xfrm>
          <a:custGeom>
            <a:avLst/>
            <a:gdLst/>
            <a:ahLst/>
            <a:cxnLst/>
            <a:rect l="0" t="0" r="0" b="0"/>
            <a:pathLst>
              <a:path w="28468">
                <a:moveTo>
                  <a:pt x="0" y="0"/>
                </a:moveTo>
                <a:lnTo>
                  <a:pt x="28468" y="0"/>
                </a:lnTo>
              </a:path>
            </a:pathLst>
          </a:custGeom>
          <a:ln w="11086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" name="pl49"/>
          <p:cNvSpPr/>
          <p:nvPr/>
        </p:nvSpPr>
        <p:spPr>
          <a:xfrm>
            <a:off x="2084361" y="4815833"/>
            <a:ext cx="206910" cy="0"/>
          </a:xfrm>
          <a:custGeom>
            <a:avLst/>
            <a:gdLst/>
            <a:ahLst/>
            <a:cxnLst/>
            <a:rect l="0" t="0" r="0" b="0"/>
            <a:pathLst>
              <a:path w="206910">
                <a:moveTo>
                  <a:pt x="0" y="0"/>
                </a:moveTo>
                <a:lnTo>
                  <a:pt x="206910" y="0"/>
                </a:lnTo>
              </a:path>
            </a:pathLst>
          </a:custGeom>
          <a:ln w="11086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0" name="pl50"/>
          <p:cNvSpPr/>
          <p:nvPr/>
        </p:nvSpPr>
        <p:spPr>
          <a:xfrm>
            <a:off x="2187816" y="4815833"/>
            <a:ext cx="0" cy="28468"/>
          </a:xfrm>
          <a:custGeom>
            <a:avLst/>
            <a:gdLst/>
            <a:ahLst/>
            <a:cxnLst/>
            <a:rect l="0" t="0" r="0" b="0"/>
            <a:pathLst>
              <a:path h="28468">
                <a:moveTo>
                  <a:pt x="0" y="28468"/>
                </a:moveTo>
                <a:lnTo>
                  <a:pt x="0" y="0"/>
                </a:lnTo>
              </a:path>
            </a:pathLst>
          </a:custGeom>
          <a:ln w="11086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" name="tx51"/>
          <p:cNvSpPr/>
          <p:nvPr/>
        </p:nvSpPr>
        <p:spPr>
          <a:xfrm>
            <a:off x="2162389" y="4865692"/>
            <a:ext cx="50854" cy="6683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52" name="rc52"/>
          <p:cNvSpPr/>
          <p:nvPr/>
        </p:nvSpPr>
        <p:spPr>
          <a:xfrm>
            <a:off x="4000677" y="2022214"/>
            <a:ext cx="2696807" cy="3518421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" name="rc53"/>
          <p:cNvSpPr/>
          <p:nvPr/>
        </p:nvSpPr>
        <p:spPr>
          <a:xfrm>
            <a:off x="4482016" y="2091803"/>
            <a:ext cx="2145879" cy="3024644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4" name="pl54"/>
          <p:cNvSpPr/>
          <p:nvPr/>
        </p:nvSpPr>
        <p:spPr>
          <a:xfrm>
            <a:off x="4482016" y="3512469"/>
            <a:ext cx="2145879" cy="0"/>
          </a:xfrm>
          <a:custGeom>
            <a:avLst/>
            <a:gdLst/>
            <a:ahLst/>
            <a:cxnLst/>
            <a:rect l="0" t="0" r="0" b="0"/>
            <a:pathLst>
              <a:path w="2145879">
                <a:moveTo>
                  <a:pt x="0" y="0"/>
                </a:moveTo>
                <a:lnTo>
                  <a:pt x="2145879" y="0"/>
                </a:lnTo>
                <a:lnTo>
                  <a:pt x="2145879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" name="pg55"/>
          <p:cNvSpPr/>
          <p:nvPr/>
        </p:nvSpPr>
        <p:spPr>
          <a:xfrm>
            <a:off x="4579556" y="3225119"/>
            <a:ext cx="1950799" cy="538980"/>
          </a:xfrm>
          <a:custGeom>
            <a:avLst/>
            <a:gdLst/>
            <a:ahLst/>
            <a:cxnLst/>
            <a:rect l="0" t="0" r="0" b="0"/>
            <a:pathLst>
              <a:path w="1950799" h="538980">
                <a:moveTo>
                  <a:pt x="0" y="199174"/>
                </a:moveTo>
                <a:lnTo>
                  <a:pt x="292619" y="194372"/>
                </a:lnTo>
                <a:lnTo>
                  <a:pt x="682779" y="191367"/>
                </a:lnTo>
                <a:lnTo>
                  <a:pt x="975399" y="175233"/>
                </a:lnTo>
                <a:lnTo>
                  <a:pt x="1463099" y="179895"/>
                </a:lnTo>
                <a:lnTo>
                  <a:pt x="1950799" y="0"/>
                </a:lnTo>
                <a:lnTo>
                  <a:pt x="1950799" y="538980"/>
                </a:lnTo>
                <a:lnTo>
                  <a:pt x="1463099" y="350514"/>
                </a:lnTo>
                <a:lnTo>
                  <a:pt x="975399" y="342223"/>
                </a:lnTo>
                <a:lnTo>
                  <a:pt x="682779" y="344125"/>
                </a:lnTo>
                <a:lnTo>
                  <a:pt x="292619" y="355456"/>
                </a:lnTo>
                <a:lnTo>
                  <a:pt x="0" y="278915"/>
                </a:lnTo>
                <a:close/>
              </a:path>
            </a:pathLst>
          </a:custGeom>
          <a:solidFill>
            <a:srgbClr val="00BFC4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6" name="pl56"/>
          <p:cNvSpPr/>
          <p:nvPr/>
        </p:nvSpPr>
        <p:spPr>
          <a:xfrm>
            <a:off x="4579556" y="3225119"/>
            <a:ext cx="1950799" cy="199174"/>
          </a:xfrm>
          <a:custGeom>
            <a:avLst/>
            <a:gdLst/>
            <a:ahLst/>
            <a:cxnLst/>
            <a:rect l="0" t="0" r="0" b="0"/>
            <a:pathLst>
              <a:path w="1950799" h="199174">
                <a:moveTo>
                  <a:pt x="0" y="199174"/>
                </a:moveTo>
                <a:lnTo>
                  <a:pt x="292619" y="194372"/>
                </a:lnTo>
                <a:lnTo>
                  <a:pt x="682779" y="191367"/>
                </a:lnTo>
                <a:lnTo>
                  <a:pt x="975399" y="175233"/>
                </a:lnTo>
                <a:lnTo>
                  <a:pt x="1463099" y="179895"/>
                </a:lnTo>
                <a:lnTo>
                  <a:pt x="1950799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57" name="pl57"/>
          <p:cNvSpPr/>
          <p:nvPr/>
        </p:nvSpPr>
        <p:spPr>
          <a:xfrm>
            <a:off x="4579556" y="3504034"/>
            <a:ext cx="1950799" cy="260065"/>
          </a:xfrm>
          <a:custGeom>
            <a:avLst/>
            <a:gdLst/>
            <a:ahLst/>
            <a:cxnLst/>
            <a:rect l="0" t="0" r="0" b="0"/>
            <a:pathLst>
              <a:path w="1950799" h="260065">
                <a:moveTo>
                  <a:pt x="1950799" y="260065"/>
                </a:moveTo>
                <a:lnTo>
                  <a:pt x="1463099" y="71599"/>
                </a:lnTo>
                <a:lnTo>
                  <a:pt x="975399" y="63308"/>
                </a:lnTo>
                <a:lnTo>
                  <a:pt x="682779" y="65210"/>
                </a:lnTo>
                <a:lnTo>
                  <a:pt x="292619" y="76541"/>
                </a:lnTo>
                <a:lnTo>
                  <a:pt x="0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58" name="pl58"/>
          <p:cNvSpPr/>
          <p:nvPr/>
        </p:nvSpPr>
        <p:spPr>
          <a:xfrm>
            <a:off x="4579556" y="3483847"/>
            <a:ext cx="1950799" cy="16185"/>
          </a:xfrm>
          <a:custGeom>
            <a:avLst/>
            <a:gdLst/>
            <a:ahLst/>
            <a:cxnLst/>
            <a:rect l="0" t="0" r="0" b="0"/>
            <a:pathLst>
              <a:path w="1950799" h="16185">
                <a:moveTo>
                  <a:pt x="0" y="7231"/>
                </a:moveTo>
                <a:lnTo>
                  <a:pt x="292619" y="16185"/>
                </a:lnTo>
                <a:lnTo>
                  <a:pt x="682779" y="9018"/>
                </a:lnTo>
                <a:lnTo>
                  <a:pt x="975399" y="0"/>
                </a:lnTo>
                <a:lnTo>
                  <a:pt x="1463099" y="6476"/>
                </a:lnTo>
                <a:lnTo>
                  <a:pt x="1950799" y="10762"/>
                </a:lnTo>
              </a:path>
            </a:pathLst>
          </a:custGeom>
          <a:ln w="32521" cap="flat">
            <a:solidFill>
              <a:srgbClr val="007B8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9" name="pl59"/>
          <p:cNvSpPr/>
          <p:nvPr/>
        </p:nvSpPr>
        <p:spPr>
          <a:xfrm>
            <a:off x="5554956" y="2091803"/>
            <a:ext cx="0" cy="3024644"/>
          </a:xfrm>
          <a:custGeom>
            <a:avLst/>
            <a:gdLst/>
            <a:ahLst/>
            <a:cxnLst/>
            <a:rect l="0" t="0" r="0" b="0"/>
            <a:pathLst>
              <a:path h="3024644">
                <a:moveTo>
                  <a:pt x="0" y="3024644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dot"/>
            <a:round/>
          </a:ln>
        </p:spPr>
        <p:txBody>
          <a:bodyPr/>
          <a:lstStyle/>
          <a:p>
            <a:endParaRPr/>
          </a:p>
        </p:txBody>
      </p:sp>
      <p:sp>
        <p:nvSpPr>
          <p:cNvPr id="60" name="pl60"/>
          <p:cNvSpPr/>
          <p:nvPr/>
        </p:nvSpPr>
        <p:spPr>
          <a:xfrm>
            <a:off x="4482016" y="2091803"/>
            <a:ext cx="0" cy="3024644"/>
          </a:xfrm>
          <a:custGeom>
            <a:avLst/>
            <a:gdLst/>
            <a:ahLst/>
            <a:cxnLst/>
            <a:rect l="0" t="0" r="0" b="0"/>
            <a:pathLst>
              <a:path h="3024644">
                <a:moveTo>
                  <a:pt x="0" y="3024644"/>
                </a:moveTo>
                <a:lnTo>
                  <a:pt x="0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1" name="tx61"/>
          <p:cNvSpPr/>
          <p:nvPr/>
        </p:nvSpPr>
        <p:spPr>
          <a:xfrm>
            <a:off x="4257858" y="4478992"/>
            <a:ext cx="161528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-20</a:t>
            </a:r>
          </a:p>
        </p:txBody>
      </p:sp>
      <p:sp>
        <p:nvSpPr>
          <p:cNvPr id="62" name="tx62"/>
          <p:cNvSpPr/>
          <p:nvPr/>
        </p:nvSpPr>
        <p:spPr>
          <a:xfrm>
            <a:off x="4357230" y="3562433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63" name="tx63"/>
          <p:cNvSpPr/>
          <p:nvPr/>
        </p:nvSpPr>
        <p:spPr>
          <a:xfrm>
            <a:off x="4295075" y="2645874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64" name="pl64"/>
          <p:cNvSpPr/>
          <p:nvPr/>
        </p:nvSpPr>
        <p:spPr>
          <a:xfrm>
            <a:off x="4447222" y="4520684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5" name="pl65"/>
          <p:cNvSpPr/>
          <p:nvPr/>
        </p:nvSpPr>
        <p:spPr>
          <a:xfrm>
            <a:off x="4447222" y="3604125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6" name="pl66"/>
          <p:cNvSpPr/>
          <p:nvPr/>
        </p:nvSpPr>
        <p:spPr>
          <a:xfrm>
            <a:off x="4447222" y="2687566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7" name="pl67"/>
          <p:cNvSpPr/>
          <p:nvPr/>
        </p:nvSpPr>
        <p:spPr>
          <a:xfrm>
            <a:off x="4482016" y="5116447"/>
            <a:ext cx="2145879" cy="0"/>
          </a:xfrm>
          <a:custGeom>
            <a:avLst/>
            <a:gdLst/>
            <a:ahLst/>
            <a:cxnLst/>
            <a:rect l="0" t="0" r="0" b="0"/>
            <a:pathLst>
              <a:path w="2145879">
                <a:moveTo>
                  <a:pt x="0" y="0"/>
                </a:moveTo>
                <a:lnTo>
                  <a:pt x="2145879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8" name="pl68"/>
          <p:cNvSpPr/>
          <p:nvPr/>
        </p:nvSpPr>
        <p:spPr>
          <a:xfrm>
            <a:off x="4579556" y="5116447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9" name="pl69"/>
          <p:cNvSpPr/>
          <p:nvPr/>
        </p:nvSpPr>
        <p:spPr>
          <a:xfrm>
            <a:off x="5067256" y="5116447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0" name="pl70"/>
          <p:cNvSpPr/>
          <p:nvPr/>
        </p:nvSpPr>
        <p:spPr>
          <a:xfrm>
            <a:off x="5554956" y="5116447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1" name="pl71"/>
          <p:cNvSpPr/>
          <p:nvPr/>
        </p:nvSpPr>
        <p:spPr>
          <a:xfrm>
            <a:off x="6042656" y="5116447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2" name="pl72"/>
          <p:cNvSpPr/>
          <p:nvPr/>
        </p:nvSpPr>
        <p:spPr>
          <a:xfrm>
            <a:off x="6530356" y="5116447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3" name="tx73"/>
          <p:cNvSpPr/>
          <p:nvPr/>
        </p:nvSpPr>
        <p:spPr>
          <a:xfrm>
            <a:off x="4470797" y="5177385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0.00</a:t>
            </a:r>
          </a:p>
        </p:txBody>
      </p:sp>
      <p:sp>
        <p:nvSpPr>
          <p:cNvPr id="74" name="tx74"/>
          <p:cNvSpPr/>
          <p:nvPr/>
        </p:nvSpPr>
        <p:spPr>
          <a:xfrm>
            <a:off x="4958497" y="5177385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0.05</a:t>
            </a:r>
          </a:p>
        </p:txBody>
      </p:sp>
      <p:sp>
        <p:nvSpPr>
          <p:cNvPr id="75" name="tx75"/>
          <p:cNvSpPr/>
          <p:nvPr/>
        </p:nvSpPr>
        <p:spPr>
          <a:xfrm>
            <a:off x="5446197" y="5177385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0.10</a:t>
            </a:r>
          </a:p>
        </p:txBody>
      </p:sp>
      <p:sp>
        <p:nvSpPr>
          <p:cNvPr id="76" name="tx76"/>
          <p:cNvSpPr/>
          <p:nvPr/>
        </p:nvSpPr>
        <p:spPr>
          <a:xfrm>
            <a:off x="5933897" y="5177385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0.15</a:t>
            </a:r>
          </a:p>
        </p:txBody>
      </p:sp>
      <p:sp>
        <p:nvSpPr>
          <p:cNvPr id="77" name="tx77"/>
          <p:cNvSpPr/>
          <p:nvPr/>
        </p:nvSpPr>
        <p:spPr>
          <a:xfrm>
            <a:off x="6421597" y="5177385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0.20</a:t>
            </a:r>
          </a:p>
        </p:txBody>
      </p:sp>
      <p:sp>
        <p:nvSpPr>
          <p:cNvPr id="78" name="tx78"/>
          <p:cNvSpPr/>
          <p:nvPr/>
        </p:nvSpPr>
        <p:spPr>
          <a:xfrm>
            <a:off x="4922179" y="5326534"/>
            <a:ext cx="1265553" cy="10163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Intra-Individual Error</a:t>
            </a:r>
          </a:p>
        </p:txBody>
      </p:sp>
      <p:sp>
        <p:nvSpPr>
          <p:cNvPr id="79" name="tx79"/>
          <p:cNvSpPr/>
          <p:nvPr/>
        </p:nvSpPr>
        <p:spPr>
          <a:xfrm rot="16200000">
            <a:off x="3716617" y="3538572"/>
            <a:ext cx="776194" cy="1311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MAE (years)</a:t>
            </a:r>
          </a:p>
        </p:txBody>
      </p:sp>
      <p:sp>
        <p:nvSpPr>
          <p:cNvPr id="80" name="rc80"/>
          <p:cNvSpPr/>
          <p:nvPr/>
        </p:nvSpPr>
        <p:spPr>
          <a:xfrm>
            <a:off x="4615839" y="4111869"/>
            <a:ext cx="429175" cy="907393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007B8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1" name="rc81"/>
          <p:cNvSpPr/>
          <p:nvPr/>
        </p:nvSpPr>
        <p:spPr>
          <a:xfrm>
            <a:off x="4781168" y="4168806"/>
            <a:ext cx="206910" cy="647027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2" name="pl82"/>
          <p:cNvSpPr/>
          <p:nvPr/>
        </p:nvSpPr>
        <p:spPr>
          <a:xfrm>
            <a:off x="4781168" y="4590354"/>
            <a:ext cx="206910" cy="0"/>
          </a:xfrm>
          <a:custGeom>
            <a:avLst/>
            <a:gdLst/>
            <a:ahLst/>
            <a:cxnLst/>
            <a:rect l="0" t="0" r="0" b="0"/>
            <a:pathLst>
              <a:path w="206910">
                <a:moveTo>
                  <a:pt x="0" y="0"/>
                </a:moveTo>
                <a:lnTo>
                  <a:pt x="206910" y="0"/>
                </a:lnTo>
                <a:lnTo>
                  <a:pt x="206910" y="0"/>
                </a:lnTo>
              </a:path>
            </a:pathLst>
          </a:custGeom>
          <a:ln w="11086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83" name="pl83"/>
          <p:cNvSpPr/>
          <p:nvPr/>
        </p:nvSpPr>
        <p:spPr>
          <a:xfrm>
            <a:off x="4790573" y="4401731"/>
            <a:ext cx="188100" cy="0"/>
          </a:xfrm>
          <a:custGeom>
            <a:avLst/>
            <a:gdLst/>
            <a:ahLst/>
            <a:cxnLst/>
            <a:rect l="0" t="0" r="0" b="0"/>
            <a:pathLst>
              <a:path w="188100">
                <a:moveTo>
                  <a:pt x="0" y="0"/>
                </a:moveTo>
                <a:lnTo>
                  <a:pt x="188100" y="0"/>
                </a:lnTo>
              </a:path>
            </a:pathLst>
          </a:custGeom>
          <a:ln w="11086" cap="flat">
            <a:solidFill>
              <a:srgbClr val="000000">
                <a:alpha val="4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4" name="pl84"/>
          <p:cNvSpPr/>
          <p:nvPr/>
        </p:nvSpPr>
        <p:spPr>
          <a:xfrm>
            <a:off x="4884623" y="4401731"/>
            <a:ext cx="0" cy="170579"/>
          </a:xfrm>
          <a:custGeom>
            <a:avLst/>
            <a:gdLst/>
            <a:ahLst/>
            <a:cxnLst/>
            <a:rect l="0" t="0" r="0" b="0"/>
            <a:pathLst>
              <a:path h="170579">
                <a:moveTo>
                  <a:pt x="0" y="0"/>
                </a:moveTo>
                <a:lnTo>
                  <a:pt x="0" y="170579"/>
                </a:lnTo>
              </a:path>
            </a:pathLst>
          </a:custGeom>
          <a:ln w="11086" cap="flat">
            <a:solidFill>
              <a:srgbClr val="000000">
                <a:alpha val="4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5" name="pl85"/>
          <p:cNvSpPr/>
          <p:nvPr/>
        </p:nvSpPr>
        <p:spPr>
          <a:xfrm>
            <a:off x="4790573" y="4572311"/>
            <a:ext cx="188100" cy="0"/>
          </a:xfrm>
          <a:custGeom>
            <a:avLst/>
            <a:gdLst/>
            <a:ahLst/>
            <a:cxnLst/>
            <a:rect l="0" t="0" r="0" b="0"/>
            <a:pathLst>
              <a:path w="188100">
                <a:moveTo>
                  <a:pt x="0" y="0"/>
                </a:moveTo>
                <a:lnTo>
                  <a:pt x="188100" y="0"/>
                </a:lnTo>
              </a:path>
            </a:pathLst>
          </a:custGeom>
          <a:ln w="11086" cap="flat">
            <a:solidFill>
              <a:srgbClr val="000000">
                <a:alpha val="4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6" name="pt86"/>
          <p:cNvSpPr/>
          <p:nvPr/>
        </p:nvSpPr>
        <p:spPr>
          <a:xfrm>
            <a:off x="4864311" y="4524284"/>
            <a:ext cx="40624" cy="40624"/>
          </a:xfrm>
          <a:prstGeom prst="ellipse">
            <a:avLst/>
          </a:prstGeom>
          <a:solidFill>
            <a:srgbClr val="007B82">
              <a:alpha val="100000"/>
            </a:srgbClr>
          </a:solidFill>
          <a:ln w="7363" cap="rnd">
            <a:solidFill>
              <a:srgbClr val="007B8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7" name="pl87"/>
          <p:cNvSpPr/>
          <p:nvPr/>
        </p:nvSpPr>
        <p:spPr>
          <a:xfrm>
            <a:off x="4781168" y="4168806"/>
            <a:ext cx="0" cy="647027"/>
          </a:xfrm>
          <a:custGeom>
            <a:avLst/>
            <a:gdLst/>
            <a:ahLst/>
            <a:cxnLst/>
            <a:rect l="0" t="0" r="0" b="0"/>
            <a:pathLst>
              <a:path h="647027">
                <a:moveTo>
                  <a:pt x="0" y="647027"/>
                </a:moveTo>
                <a:lnTo>
                  <a:pt x="0" y="0"/>
                </a:lnTo>
              </a:path>
            </a:pathLst>
          </a:custGeom>
          <a:ln w="11086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8" name="tx88"/>
          <p:cNvSpPr/>
          <p:nvPr/>
        </p:nvSpPr>
        <p:spPr>
          <a:xfrm>
            <a:off x="4679071" y="4752312"/>
            <a:ext cx="50854" cy="6683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89" name="tx89"/>
          <p:cNvSpPr/>
          <p:nvPr/>
        </p:nvSpPr>
        <p:spPr>
          <a:xfrm>
            <a:off x="4679071" y="4557359"/>
            <a:ext cx="50854" cy="657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0" name="tx90"/>
          <p:cNvSpPr/>
          <p:nvPr/>
        </p:nvSpPr>
        <p:spPr>
          <a:xfrm>
            <a:off x="4679071" y="4361558"/>
            <a:ext cx="50854" cy="6545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91" name="tx91"/>
          <p:cNvSpPr/>
          <p:nvPr/>
        </p:nvSpPr>
        <p:spPr>
          <a:xfrm>
            <a:off x="4679071" y="4164105"/>
            <a:ext cx="50854" cy="6683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92" name="pl92"/>
          <p:cNvSpPr/>
          <p:nvPr/>
        </p:nvSpPr>
        <p:spPr>
          <a:xfrm>
            <a:off x="4752700" y="4786423"/>
            <a:ext cx="28468" cy="0"/>
          </a:xfrm>
          <a:custGeom>
            <a:avLst/>
            <a:gdLst/>
            <a:ahLst/>
            <a:cxnLst/>
            <a:rect l="0" t="0" r="0" b="0"/>
            <a:pathLst>
              <a:path w="28468">
                <a:moveTo>
                  <a:pt x="0" y="0"/>
                </a:moveTo>
                <a:lnTo>
                  <a:pt x="28468" y="0"/>
                </a:lnTo>
              </a:path>
            </a:pathLst>
          </a:custGeom>
          <a:ln w="11086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3" name="pl93"/>
          <p:cNvSpPr/>
          <p:nvPr/>
        </p:nvSpPr>
        <p:spPr>
          <a:xfrm>
            <a:off x="4752700" y="4590354"/>
            <a:ext cx="28468" cy="0"/>
          </a:xfrm>
          <a:custGeom>
            <a:avLst/>
            <a:gdLst/>
            <a:ahLst/>
            <a:cxnLst/>
            <a:rect l="0" t="0" r="0" b="0"/>
            <a:pathLst>
              <a:path w="28468">
                <a:moveTo>
                  <a:pt x="0" y="0"/>
                </a:moveTo>
                <a:lnTo>
                  <a:pt x="28468" y="0"/>
                </a:lnTo>
              </a:path>
            </a:pathLst>
          </a:custGeom>
          <a:ln w="11086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" name="pl94"/>
          <p:cNvSpPr/>
          <p:nvPr/>
        </p:nvSpPr>
        <p:spPr>
          <a:xfrm>
            <a:off x="4752700" y="4394285"/>
            <a:ext cx="28468" cy="0"/>
          </a:xfrm>
          <a:custGeom>
            <a:avLst/>
            <a:gdLst/>
            <a:ahLst/>
            <a:cxnLst/>
            <a:rect l="0" t="0" r="0" b="0"/>
            <a:pathLst>
              <a:path w="28468">
                <a:moveTo>
                  <a:pt x="0" y="0"/>
                </a:moveTo>
                <a:lnTo>
                  <a:pt x="28468" y="0"/>
                </a:lnTo>
              </a:path>
            </a:pathLst>
          </a:custGeom>
          <a:ln w="11086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5" name="pl95"/>
          <p:cNvSpPr/>
          <p:nvPr/>
        </p:nvSpPr>
        <p:spPr>
          <a:xfrm>
            <a:off x="4752700" y="4198216"/>
            <a:ext cx="28468" cy="0"/>
          </a:xfrm>
          <a:custGeom>
            <a:avLst/>
            <a:gdLst/>
            <a:ahLst/>
            <a:cxnLst/>
            <a:rect l="0" t="0" r="0" b="0"/>
            <a:pathLst>
              <a:path w="28468">
                <a:moveTo>
                  <a:pt x="0" y="0"/>
                </a:moveTo>
                <a:lnTo>
                  <a:pt x="28468" y="0"/>
                </a:lnTo>
              </a:path>
            </a:pathLst>
          </a:custGeom>
          <a:ln w="11086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6" name="pl96"/>
          <p:cNvSpPr/>
          <p:nvPr/>
        </p:nvSpPr>
        <p:spPr>
          <a:xfrm>
            <a:off x="4781168" y="4815833"/>
            <a:ext cx="206910" cy="0"/>
          </a:xfrm>
          <a:custGeom>
            <a:avLst/>
            <a:gdLst/>
            <a:ahLst/>
            <a:cxnLst/>
            <a:rect l="0" t="0" r="0" b="0"/>
            <a:pathLst>
              <a:path w="206910">
                <a:moveTo>
                  <a:pt x="0" y="0"/>
                </a:moveTo>
                <a:lnTo>
                  <a:pt x="206910" y="0"/>
                </a:lnTo>
              </a:path>
            </a:pathLst>
          </a:custGeom>
          <a:ln w="11086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7" name="pl97"/>
          <p:cNvSpPr/>
          <p:nvPr/>
        </p:nvSpPr>
        <p:spPr>
          <a:xfrm>
            <a:off x="4884623" y="4815833"/>
            <a:ext cx="0" cy="28468"/>
          </a:xfrm>
          <a:custGeom>
            <a:avLst/>
            <a:gdLst/>
            <a:ahLst/>
            <a:cxnLst/>
            <a:rect l="0" t="0" r="0" b="0"/>
            <a:pathLst>
              <a:path h="28468">
                <a:moveTo>
                  <a:pt x="0" y="28468"/>
                </a:moveTo>
                <a:lnTo>
                  <a:pt x="0" y="0"/>
                </a:lnTo>
              </a:path>
            </a:pathLst>
          </a:custGeom>
          <a:ln w="11086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8" name="tx98"/>
          <p:cNvSpPr/>
          <p:nvPr/>
        </p:nvSpPr>
        <p:spPr>
          <a:xfrm>
            <a:off x="4859196" y="4865692"/>
            <a:ext cx="50854" cy="6683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99" name="rc99"/>
          <p:cNvSpPr/>
          <p:nvPr/>
        </p:nvSpPr>
        <p:spPr>
          <a:xfrm>
            <a:off x="6697485" y="2022214"/>
            <a:ext cx="2696807" cy="3518421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0" name="rc100"/>
          <p:cNvSpPr/>
          <p:nvPr/>
        </p:nvSpPr>
        <p:spPr>
          <a:xfrm>
            <a:off x="7178823" y="2091803"/>
            <a:ext cx="2145879" cy="3024644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1" name="pl101"/>
          <p:cNvSpPr/>
          <p:nvPr/>
        </p:nvSpPr>
        <p:spPr>
          <a:xfrm>
            <a:off x="7178823" y="3512469"/>
            <a:ext cx="2145879" cy="0"/>
          </a:xfrm>
          <a:custGeom>
            <a:avLst/>
            <a:gdLst/>
            <a:ahLst/>
            <a:cxnLst/>
            <a:rect l="0" t="0" r="0" b="0"/>
            <a:pathLst>
              <a:path w="2145879">
                <a:moveTo>
                  <a:pt x="0" y="0"/>
                </a:moveTo>
                <a:lnTo>
                  <a:pt x="2145879" y="0"/>
                </a:lnTo>
                <a:lnTo>
                  <a:pt x="2145879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2" name="pg102"/>
          <p:cNvSpPr/>
          <p:nvPr/>
        </p:nvSpPr>
        <p:spPr>
          <a:xfrm>
            <a:off x="7276363" y="2797090"/>
            <a:ext cx="1950799" cy="1485075"/>
          </a:xfrm>
          <a:custGeom>
            <a:avLst/>
            <a:gdLst/>
            <a:ahLst/>
            <a:cxnLst/>
            <a:rect l="0" t="0" r="0" b="0"/>
            <a:pathLst>
              <a:path w="1950799" h="1485075">
                <a:moveTo>
                  <a:pt x="0" y="716445"/>
                </a:moveTo>
                <a:lnTo>
                  <a:pt x="292619" y="702117"/>
                </a:lnTo>
                <a:lnTo>
                  <a:pt x="682779" y="703898"/>
                </a:lnTo>
                <a:lnTo>
                  <a:pt x="975399" y="691989"/>
                </a:lnTo>
                <a:lnTo>
                  <a:pt x="1463099" y="0"/>
                </a:lnTo>
                <a:lnTo>
                  <a:pt x="1950799" y="228636"/>
                </a:lnTo>
                <a:lnTo>
                  <a:pt x="1950799" y="1248143"/>
                </a:lnTo>
                <a:lnTo>
                  <a:pt x="1463099" y="1485075"/>
                </a:lnTo>
                <a:lnTo>
                  <a:pt x="975399" y="802096"/>
                </a:lnTo>
                <a:lnTo>
                  <a:pt x="682779" y="788779"/>
                </a:lnTo>
                <a:lnTo>
                  <a:pt x="292619" y="787742"/>
                </a:lnTo>
                <a:lnTo>
                  <a:pt x="0" y="755467"/>
                </a:lnTo>
                <a:close/>
              </a:path>
            </a:pathLst>
          </a:custGeom>
          <a:solidFill>
            <a:srgbClr val="00BFC4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3" name="pl103"/>
          <p:cNvSpPr/>
          <p:nvPr/>
        </p:nvSpPr>
        <p:spPr>
          <a:xfrm>
            <a:off x="7276363" y="2797090"/>
            <a:ext cx="1950799" cy="716445"/>
          </a:xfrm>
          <a:custGeom>
            <a:avLst/>
            <a:gdLst/>
            <a:ahLst/>
            <a:cxnLst/>
            <a:rect l="0" t="0" r="0" b="0"/>
            <a:pathLst>
              <a:path w="1950799" h="716445">
                <a:moveTo>
                  <a:pt x="0" y="716445"/>
                </a:moveTo>
                <a:lnTo>
                  <a:pt x="292619" y="702117"/>
                </a:lnTo>
                <a:lnTo>
                  <a:pt x="682779" y="703898"/>
                </a:lnTo>
                <a:lnTo>
                  <a:pt x="975399" y="691989"/>
                </a:lnTo>
                <a:lnTo>
                  <a:pt x="1463099" y="0"/>
                </a:lnTo>
                <a:lnTo>
                  <a:pt x="1950799" y="228636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04" name="pl104"/>
          <p:cNvSpPr/>
          <p:nvPr/>
        </p:nvSpPr>
        <p:spPr>
          <a:xfrm>
            <a:off x="7276363" y="3552557"/>
            <a:ext cx="1950799" cy="729608"/>
          </a:xfrm>
          <a:custGeom>
            <a:avLst/>
            <a:gdLst/>
            <a:ahLst/>
            <a:cxnLst/>
            <a:rect l="0" t="0" r="0" b="0"/>
            <a:pathLst>
              <a:path w="1950799" h="729608">
                <a:moveTo>
                  <a:pt x="1950799" y="492676"/>
                </a:moveTo>
                <a:lnTo>
                  <a:pt x="1463099" y="729608"/>
                </a:lnTo>
                <a:lnTo>
                  <a:pt x="975399" y="46629"/>
                </a:lnTo>
                <a:lnTo>
                  <a:pt x="682779" y="33312"/>
                </a:lnTo>
                <a:lnTo>
                  <a:pt x="292619" y="32274"/>
                </a:lnTo>
                <a:lnTo>
                  <a:pt x="0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05" name="pl105"/>
          <p:cNvSpPr/>
          <p:nvPr/>
        </p:nvSpPr>
        <p:spPr>
          <a:xfrm>
            <a:off x="7276363" y="3535480"/>
            <a:ext cx="1950799" cy="10965"/>
          </a:xfrm>
          <a:custGeom>
            <a:avLst/>
            <a:gdLst/>
            <a:ahLst/>
            <a:cxnLst/>
            <a:rect l="0" t="0" r="0" b="0"/>
            <a:pathLst>
              <a:path w="1950799" h="10965">
                <a:moveTo>
                  <a:pt x="0" y="10965"/>
                </a:moveTo>
                <a:lnTo>
                  <a:pt x="292619" y="6539"/>
                </a:lnTo>
                <a:lnTo>
                  <a:pt x="682779" y="7949"/>
                </a:lnTo>
                <a:lnTo>
                  <a:pt x="975399" y="8652"/>
                </a:lnTo>
                <a:lnTo>
                  <a:pt x="1463099" y="4147"/>
                </a:lnTo>
                <a:lnTo>
                  <a:pt x="1950799" y="0"/>
                </a:lnTo>
              </a:path>
            </a:pathLst>
          </a:custGeom>
          <a:ln w="32521" cap="flat">
            <a:solidFill>
              <a:srgbClr val="007B8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6" name="pl106"/>
          <p:cNvSpPr/>
          <p:nvPr/>
        </p:nvSpPr>
        <p:spPr>
          <a:xfrm>
            <a:off x="8251763" y="2091803"/>
            <a:ext cx="0" cy="3024644"/>
          </a:xfrm>
          <a:custGeom>
            <a:avLst/>
            <a:gdLst/>
            <a:ahLst/>
            <a:cxnLst/>
            <a:rect l="0" t="0" r="0" b="0"/>
            <a:pathLst>
              <a:path h="3024644">
                <a:moveTo>
                  <a:pt x="0" y="3024644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dot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7" name="pl107"/>
          <p:cNvSpPr/>
          <p:nvPr/>
        </p:nvSpPr>
        <p:spPr>
          <a:xfrm>
            <a:off x="7178823" y="2091803"/>
            <a:ext cx="0" cy="3024644"/>
          </a:xfrm>
          <a:custGeom>
            <a:avLst/>
            <a:gdLst/>
            <a:ahLst/>
            <a:cxnLst/>
            <a:rect l="0" t="0" r="0" b="0"/>
            <a:pathLst>
              <a:path h="3024644">
                <a:moveTo>
                  <a:pt x="0" y="3024644"/>
                </a:moveTo>
                <a:lnTo>
                  <a:pt x="0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/>
          <p:nvPr/>
        </p:nvSpPr>
        <p:spPr>
          <a:xfrm>
            <a:off x="6954665" y="4478992"/>
            <a:ext cx="161528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-20</a:t>
            </a:r>
          </a:p>
        </p:txBody>
      </p:sp>
      <p:sp>
        <p:nvSpPr>
          <p:cNvPr id="109" name="tx109"/>
          <p:cNvSpPr/>
          <p:nvPr/>
        </p:nvSpPr>
        <p:spPr>
          <a:xfrm>
            <a:off x="7054038" y="3562433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10" name="tx110"/>
          <p:cNvSpPr/>
          <p:nvPr/>
        </p:nvSpPr>
        <p:spPr>
          <a:xfrm>
            <a:off x="6991882" y="2645874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111" name="pl111"/>
          <p:cNvSpPr/>
          <p:nvPr/>
        </p:nvSpPr>
        <p:spPr>
          <a:xfrm>
            <a:off x="7144029" y="4520684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2" name="pl112"/>
          <p:cNvSpPr/>
          <p:nvPr/>
        </p:nvSpPr>
        <p:spPr>
          <a:xfrm>
            <a:off x="7144029" y="3604125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3" name="pl113"/>
          <p:cNvSpPr/>
          <p:nvPr/>
        </p:nvSpPr>
        <p:spPr>
          <a:xfrm>
            <a:off x="7144029" y="2687566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4" name="pl114"/>
          <p:cNvSpPr/>
          <p:nvPr/>
        </p:nvSpPr>
        <p:spPr>
          <a:xfrm>
            <a:off x="7178823" y="5116447"/>
            <a:ext cx="2145879" cy="0"/>
          </a:xfrm>
          <a:custGeom>
            <a:avLst/>
            <a:gdLst/>
            <a:ahLst/>
            <a:cxnLst/>
            <a:rect l="0" t="0" r="0" b="0"/>
            <a:pathLst>
              <a:path w="2145879">
                <a:moveTo>
                  <a:pt x="0" y="0"/>
                </a:moveTo>
                <a:lnTo>
                  <a:pt x="2145879" y="0"/>
                </a:lnTo>
              </a:path>
            </a:pathLst>
          </a:custGeom>
          <a:ln w="13550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5" name="pl115"/>
          <p:cNvSpPr/>
          <p:nvPr/>
        </p:nvSpPr>
        <p:spPr>
          <a:xfrm>
            <a:off x="7276363" y="5116447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6" name="pl116"/>
          <p:cNvSpPr/>
          <p:nvPr/>
        </p:nvSpPr>
        <p:spPr>
          <a:xfrm>
            <a:off x="7764063" y="5116447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7" name="pl117"/>
          <p:cNvSpPr/>
          <p:nvPr/>
        </p:nvSpPr>
        <p:spPr>
          <a:xfrm>
            <a:off x="8251763" y="5116447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8" name="pl118"/>
          <p:cNvSpPr/>
          <p:nvPr/>
        </p:nvSpPr>
        <p:spPr>
          <a:xfrm>
            <a:off x="8739463" y="5116447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9" name="pl119"/>
          <p:cNvSpPr/>
          <p:nvPr/>
        </p:nvSpPr>
        <p:spPr>
          <a:xfrm>
            <a:off x="9227163" y="5116447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0" name="tx120"/>
          <p:cNvSpPr/>
          <p:nvPr/>
        </p:nvSpPr>
        <p:spPr>
          <a:xfrm>
            <a:off x="7167605" y="5177385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0.00</a:t>
            </a:r>
          </a:p>
        </p:txBody>
      </p:sp>
      <p:sp>
        <p:nvSpPr>
          <p:cNvPr id="121" name="tx121"/>
          <p:cNvSpPr/>
          <p:nvPr/>
        </p:nvSpPr>
        <p:spPr>
          <a:xfrm>
            <a:off x="7655305" y="5177385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0.05</a:t>
            </a:r>
          </a:p>
        </p:txBody>
      </p:sp>
      <p:sp>
        <p:nvSpPr>
          <p:cNvPr id="122" name="tx122"/>
          <p:cNvSpPr/>
          <p:nvPr/>
        </p:nvSpPr>
        <p:spPr>
          <a:xfrm>
            <a:off x="8143005" y="5177385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0.10</a:t>
            </a:r>
          </a:p>
        </p:txBody>
      </p:sp>
      <p:sp>
        <p:nvSpPr>
          <p:cNvPr id="123" name="tx123"/>
          <p:cNvSpPr/>
          <p:nvPr/>
        </p:nvSpPr>
        <p:spPr>
          <a:xfrm>
            <a:off x="8630704" y="5177385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0.15</a:t>
            </a:r>
          </a:p>
        </p:txBody>
      </p:sp>
      <p:sp>
        <p:nvSpPr>
          <p:cNvPr id="124" name="tx124"/>
          <p:cNvSpPr/>
          <p:nvPr/>
        </p:nvSpPr>
        <p:spPr>
          <a:xfrm>
            <a:off x="9118404" y="5177385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0.20</a:t>
            </a:r>
          </a:p>
        </p:txBody>
      </p:sp>
      <p:sp>
        <p:nvSpPr>
          <p:cNvPr id="125" name="tx125"/>
          <p:cNvSpPr/>
          <p:nvPr/>
        </p:nvSpPr>
        <p:spPr>
          <a:xfrm>
            <a:off x="7618986" y="5326534"/>
            <a:ext cx="1265553" cy="10163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Intra-Individual Error</a:t>
            </a:r>
          </a:p>
        </p:txBody>
      </p:sp>
      <p:sp>
        <p:nvSpPr>
          <p:cNvPr id="126" name="tx126"/>
          <p:cNvSpPr/>
          <p:nvPr/>
        </p:nvSpPr>
        <p:spPr>
          <a:xfrm rot="16200000">
            <a:off x="6413424" y="3538572"/>
            <a:ext cx="776194" cy="1311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MAE (years)</a:t>
            </a:r>
          </a:p>
        </p:txBody>
      </p:sp>
      <p:sp>
        <p:nvSpPr>
          <p:cNvPr id="127" name="rc127"/>
          <p:cNvSpPr/>
          <p:nvPr/>
        </p:nvSpPr>
        <p:spPr>
          <a:xfrm>
            <a:off x="7312646" y="4111869"/>
            <a:ext cx="429175" cy="907393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007B8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8" name="rc128"/>
          <p:cNvSpPr/>
          <p:nvPr/>
        </p:nvSpPr>
        <p:spPr>
          <a:xfrm>
            <a:off x="7477976" y="4168806"/>
            <a:ext cx="206910" cy="647027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9" name="pl129"/>
          <p:cNvSpPr/>
          <p:nvPr/>
        </p:nvSpPr>
        <p:spPr>
          <a:xfrm>
            <a:off x="7477976" y="4590354"/>
            <a:ext cx="206910" cy="0"/>
          </a:xfrm>
          <a:custGeom>
            <a:avLst/>
            <a:gdLst/>
            <a:ahLst/>
            <a:cxnLst/>
            <a:rect l="0" t="0" r="0" b="0"/>
            <a:pathLst>
              <a:path w="206910">
                <a:moveTo>
                  <a:pt x="0" y="0"/>
                </a:moveTo>
                <a:lnTo>
                  <a:pt x="206910" y="0"/>
                </a:lnTo>
                <a:lnTo>
                  <a:pt x="206910" y="0"/>
                </a:lnTo>
              </a:path>
            </a:pathLst>
          </a:custGeom>
          <a:ln w="11086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0" name="pl130"/>
          <p:cNvSpPr/>
          <p:nvPr/>
        </p:nvSpPr>
        <p:spPr>
          <a:xfrm>
            <a:off x="7487381" y="4592637"/>
            <a:ext cx="188100" cy="0"/>
          </a:xfrm>
          <a:custGeom>
            <a:avLst/>
            <a:gdLst/>
            <a:ahLst/>
            <a:cxnLst/>
            <a:rect l="0" t="0" r="0" b="0"/>
            <a:pathLst>
              <a:path w="188100">
                <a:moveTo>
                  <a:pt x="0" y="0"/>
                </a:moveTo>
                <a:lnTo>
                  <a:pt x="188100" y="0"/>
                </a:lnTo>
              </a:path>
            </a:pathLst>
          </a:custGeom>
          <a:ln w="11086" cap="flat">
            <a:solidFill>
              <a:srgbClr val="000000">
                <a:alpha val="4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1" name="pl131"/>
          <p:cNvSpPr/>
          <p:nvPr/>
        </p:nvSpPr>
        <p:spPr>
          <a:xfrm>
            <a:off x="7581431" y="4592637"/>
            <a:ext cx="0" cy="83473"/>
          </a:xfrm>
          <a:custGeom>
            <a:avLst/>
            <a:gdLst/>
            <a:ahLst/>
            <a:cxnLst/>
            <a:rect l="0" t="0" r="0" b="0"/>
            <a:pathLst>
              <a:path h="83473">
                <a:moveTo>
                  <a:pt x="0" y="0"/>
                </a:moveTo>
                <a:lnTo>
                  <a:pt x="0" y="83473"/>
                </a:lnTo>
              </a:path>
            </a:pathLst>
          </a:custGeom>
          <a:ln w="11086" cap="flat">
            <a:solidFill>
              <a:srgbClr val="000000">
                <a:alpha val="4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2" name="pl132"/>
          <p:cNvSpPr/>
          <p:nvPr/>
        </p:nvSpPr>
        <p:spPr>
          <a:xfrm>
            <a:off x="7487381" y="4676111"/>
            <a:ext cx="188100" cy="0"/>
          </a:xfrm>
          <a:custGeom>
            <a:avLst/>
            <a:gdLst/>
            <a:ahLst/>
            <a:cxnLst/>
            <a:rect l="0" t="0" r="0" b="0"/>
            <a:pathLst>
              <a:path w="188100">
                <a:moveTo>
                  <a:pt x="0" y="0"/>
                </a:moveTo>
                <a:lnTo>
                  <a:pt x="188100" y="0"/>
                </a:lnTo>
              </a:path>
            </a:pathLst>
          </a:custGeom>
          <a:ln w="11086" cap="flat">
            <a:solidFill>
              <a:srgbClr val="000000">
                <a:alpha val="4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3" name="pt133"/>
          <p:cNvSpPr/>
          <p:nvPr/>
        </p:nvSpPr>
        <p:spPr>
          <a:xfrm>
            <a:off x="7561119" y="4642725"/>
            <a:ext cx="40624" cy="40624"/>
          </a:xfrm>
          <a:prstGeom prst="ellipse">
            <a:avLst/>
          </a:prstGeom>
          <a:solidFill>
            <a:srgbClr val="007B82">
              <a:alpha val="100000"/>
            </a:srgbClr>
          </a:solidFill>
          <a:ln w="7363" cap="rnd">
            <a:solidFill>
              <a:srgbClr val="007B8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4" name="pl134"/>
          <p:cNvSpPr/>
          <p:nvPr/>
        </p:nvSpPr>
        <p:spPr>
          <a:xfrm>
            <a:off x="7477976" y="4168806"/>
            <a:ext cx="0" cy="647027"/>
          </a:xfrm>
          <a:custGeom>
            <a:avLst/>
            <a:gdLst/>
            <a:ahLst/>
            <a:cxnLst/>
            <a:rect l="0" t="0" r="0" b="0"/>
            <a:pathLst>
              <a:path h="647027">
                <a:moveTo>
                  <a:pt x="0" y="647027"/>
                </a:moveTo>
                <a:lnTo>
                  <a:pt x="0" y="0"/>
                </a:lnTo>
              </a:path>
            </a:pathLst>
          </a:custGeom>
          <a:ln w="11086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5" name="tx135"/>
          <p:cNvSpPr/>
          <p:nvPr/>
        </p:nvSpPr>
        <p:spPr>
          <a:xfrm>
            <a:off x="7375878" y="4752312"/>
            <a:ext cx="50854" cy="6683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36" name="tx136"/>
          <p:cNvSpPr/>
          <p:nvPr/>
        </p:nvSpPr>
        <p:spPr>
          <a:xfrm>
            <a:off x="7375878" y="4557359"/>
            <a:ext cx="50854" cy="6572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37" name="tx137"/>
          <p:cNvSpPr/>
          <p:nvPr/>
        </p:nvSpPr>
        <p:spPr>
          <a:xfrm>
            <a:off x="7375878" y="4361558"/>
            <a:ext cx="50854" cy="6545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38" name="tx138"/>
          <p:cNvSpPr/>
          <p:nvPr/>
        </p:nvSpPr>
        <p:spPr>
          <a:xfrm>
            <a:off x="7375878" y="4164105"/>
            <a:ext cx="50854" cy="6683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39" name="pl139"/>
          <p:cNvSpPr/>
          <p:nvPr/>
        </p:nvSpPr>
        <p:spPr>
          <a:xfrm>
            <a:off x="7449507" y="4786423"/>
            <a:ext cx="28468" cy="0"/>
          </a:xfrm>
          <a:custGeom>
            <a:avLst/>
            <a:gdLst/>
            <a:ahLst/>
            <a:cxnLst/>
            <a:rect l="0" t="0" r="0" b="0"/>
            <a:pathLst>
              <a:path w="28468">
                <a:moveTo>
                  <a:pt x="0" y="0"/>
                </a:moveTo>
                <a:lnTo>
                  <a:pt x="28468" y="0"/>
                </a:lnTo>
              </a:path>
            </a:pathLst>
          </a:custGeom>
          <a:ln w="11086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0" name="pl140"/>
          <p:cNvSpPr/>
          <p:nvPr/>
        </p:nvSpPr>
        <p:spPr>
          <a:xfrm>
            <a:off x="7449507" y="4590354"/>
            <a:ext cx="28468" cy="0"/>
          </a:xfrm>
          <a:custGeom>
            <a:avLst/>
            <a:gdLst/>
            <a:ahLst/>
            <a:cxnLst/>
            <a:rect l="0" t="0" r="0" b="0"/>
            <a:pathLst>
              <a:path w="28468">
                <a:moveTo>
                  <a:pt x="0" y="0"/>
                </a:moveTo>
                <a:lnTo>
                  <a:pt x="28468" y="0"/>
                </a:lnTo>
              </a:path>
            </a:pathLst>
          </a:custGeom>
          <a:ln w="11086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1" name="pl141"/>
          <p:cNvSpPr/>
          <p:nvPr/>
        </p:nvSpPr>
        <p:spPr>
          <a:xfrm>
            <a:off x="7449507" y="4394285"/>
            <a:ext cx="28468" cy="0"/>
          </a:xfrm>
          <a:custGeom>
            <a:avLst/>
            <a:gdLst/>
            <a:ahLst/>
            <a:cxnLst/>
            <a:rect l="0" t="0" r="0" b="0"/>
            <a:pathLst>
              <a:path w="28468">
                <a:moveTo>
                  <a:pt x="0" y="0"/>
                </a:moveTo>
                <a:lnTo>
                  <a:pt x="28468" y="0"/>
                </a:lnTo>
              </a:path>
            </a:pathLst>
          </a:custGeom>
          <a:ln w="11086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2" name="pl142"/>
          <p:cNvSpPr/>
          <p:nvPr/>
        </p:nvSpPr>
        <p:spPr>
          <a:xfrm>
            <a:off x="7449507" y="4198216"/>
            <a:ext cx="28468" cy="0"/>
          </a:xfrm>
          <a:custGeom>
            <a:avLst/>
            <a:gdLst/>
            <a:ahLst/>
            <a:cxnLst/>
            <a:rect l="0" t="0" r="0" b="0"/>
            <a:pathLst>
              <a:path w="28468">
                <a:moveTo>
                  <a:pt x="0" y="0"/>
                </a:moveTo>
                <a:lnTo>
                  <a:pt x="28468" y="0"/>
                </a:lnTo>
              </a:path>
            </a:pathLst>
          </a:custGeom>
          <a:ln w="11086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3" name="pl143"/>
          <p:cNvSpPr/>
          <p:nvPr/>
        </p:nvSpPr>
        <p:spPr>
          <a:xfrm>
            <a:off x="7477976" y="4815833"/>
            <a:ext cx="206910" cy="0"/>
          </a:xfrm>
          <a:custGeom>
            <a:avLst/>
            <a:gdLst/>
            <a:ahLst/>
            <a:cxnLst/>
            <a:rect l="0" t="0" r="0" b="0"/>
            <a:pathLst>
              <a:path w="206910">
                <a:moveTo>
                  <a:pt x="0" y="0"/>
                </a:moveTo>
                <a:lnTo>
                  <a:pt x="206910" y="0"/>
                </a:lnTo>
              </a:path>
            </a:pathLst>
          </a:custGeom>
          <a:ln w="11086" cap="sq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4" name="pl144"/>
          <p:cNvSpPr/>
          <p:nvPr/>
        </p:nvSpPr>
        <p:spPr>
          <a:xfrm>
            <a:off x="7581431" y="4815833"/>
            <a:ext cx="0" cy="28468"/>
          </a:xfrm>
          <a:custGeom>
            <a:avLst/>
            <a:gdLst/>
            <a:ahLst/>
            <a:cxnLst/>
            <a:rect l="0" t="0" r="0" b="0"/>
            <a:pathLst>
              <a:path h="28468">
                <a:moveTo>
                  <a:pt x="0" y="28468"/>
                </a:moveTo>
                <a:lnTo>
                  <a:pt x="0" y="0"/>
                </a:lnTo>
              </a:path>
            </a:pathLst>
          </a:custGeom>
          <a:ln w="11086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5" name="tx145"/>
          <p:cNvSpPr/>
          <p:nvPr/>
        </p:nvSpPr>
        <p:spPr>
          <a:xfrm>
            <a:off x="7556004" y="4865692"/>
            <a:ext cx="50854" cy="6683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720"/>
              </a:lnSpc>
              <a:spcBef>
                <a:spcPts val="0"/>
              </a:spcBef>
              <a:spcAft>
                <a:spcPts val="0"/>
              </a:spcAft>
            </a:pPr>
            <a:r>
              <a:rPr sz="7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4DA4819-A2C1-1079-C40E-BC63E52A3E4E}"/>
              </a:ext>
            </a:extLst>
          </p:cNvPr>
          <p:cNvSpPr txBox="1"/>
          <p:nvPr/>
        </p:nvSpPr>
        <p:spPr>
          <a:xfrm>
            <a:off x="4739481" y="6143625"/>
            <a:ext cx="5638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left to right:</a:t>
            </a:r>
            <a:br>
              <a:rPr lang="en-US" dirty="0"/>
            </a:br>
            <a:r>
              <a:rPr lang="en-US" dirty="0"/>
              <a:t>xi = 0, omega = 1.5, alpha = -1</a:t>
            </a:r>
            <a:br>
              <a:rPr lang="en-US" dirty="0"/>
            </a:br>
            <a:r>
              <a:rPr lang="en-US" dirty="0"/>
              <a:t>xi = 0.5, omega = 1, alpha = 0</a:t>
            </a:r>
          </a:p>
          <a:p>
            <a:r>
              <a:rPr lang="en-US" dirty="0"/>
              <a:t>Xi = 1, omega = 0.5, alpha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101</Words>
  <Application>Microsoft Office PowerPoint</Application>
  <PresentationFormat>Custom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Wenseleers</dc:creator>
  <cp:lastModifiedBy>Julie Wisch</cp:lastModifiedBy>
  <cp:revision>6</cp:revision>
  <dcterms:created xsi:type="dcterms:W3CDTF">2015-07-14T21:05:00Z</dcterms:created>
  <dcterms:modified xsi:type="dcterms:W3CDTF">2026-05-20T14:47:17Z</dcterms:modified>
</cp:coreProperties>
</file>